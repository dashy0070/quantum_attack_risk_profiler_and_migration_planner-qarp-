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  <p:sldMasterId id="2147483688" r:id="rId2"/>
    <p:sldMasterId id="2147483676" r:id="rId3"/>
  </p:sldMasterIdLst>
  <p:notesMasterIdLst>
    <p:notesMasterId r:id="rId17"/>
  </p:notesMasterIdLst>
  <p:sldIdLst>
    <p:sldId id="289" r:id="rId4"/>
    <p:sldId id="404" r:id="rId5"/>
    <p:sldId id="388" r:id="rId6"/>
    <p:sldId id="413" r:id="rId7"/>
    <p:sldId id="364" r:id="rId8"/>
    <p:sldId id="389" r:id="rId9"/>
    <p:sldId id="412" r:id="rId10"/>
    <p:sldId id="415" r:id="rId11"/>
    <p:sldId id="414" r:id="rId12"/>
    <p:sldId id="405" r:id="rId13"/>
    <p:sldId id="367" r:id="rId14"/>
    <p:sldId id="406" r:id="rId15"/>
    <p:sldId id="259" r:id="rId16"/>
  </p:sldIdLst>
  <p:sldSz cx="12192000" cy="6858000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Montserrat Bold" panose="020B0604020202020204" charset="0"/>
      <p:bold r:id="rId19"/>
    </p:embeddedFont>
    <p:embeddedFont>
      <p:font typeface="Montserrat Light" panose="00000400000000000000" pitchFamily="2" charset="0"/>
      <p:regular r:id="rId20"/>
      <p:italic r:id="rId21"/>
    </p:embeddedFont>
    <p:embeddedFont>
      <p:font typeface="Roboto Slab" pitchFamily="2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33EF3-0F9B-4425-BB72-0BEB5267ED2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CEAAA-9FE9-4C0D-9328-5899C37F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0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8" name="Flowchart: Manual Input 5"/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  <p:sp>
          <p:nvSpPr>
            <p:cNvPr id="12" name="Flowchart: Manual Input 5"/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984375"/>
            <a:ext cx="5905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564063"/>
            <a:ext cx="5905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b="37125"/>
          <a:stretch/>
        </p:blipFill>
        <p:spPr>
          <a:xfrm>
            <a:off x="254475" y="3208830"/>
            <a:ext cx="6915786" cy="33751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88"/>
          <a:stretch/>
        </p:blipFill>
        <p:spPr>
          <a:xfrm>
            <a:off x="420808" y="423775"/>
            <a:ext cx="2760542" cy="78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4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12000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72"/>
          <a:stretch/>
        </p:blipFill>
        <p:spPr>
          <a:xfrm>
            <a:off x="400639" y="379813"/>
            <a:ext cx="2444161" cy="69333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D1A7F-7373-3869-7B19-D11B9720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475" y="638278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9954A08-F531-4BFB-B155-FB6526D1B190}" type="datetime3">
              <a:rPr lang="en-US" smtClean="0"/>
              <a:t>6 September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8AE685-7A90-7A5D-4D8F-1CB8728E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B887BD-4322-C2D5-FA8B-30CE46F75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4023" y="6382785"/>
            <a:ext cx="58117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8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359785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866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268668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03"/>
          <a:stretch/>
        </p:blipFill>
        <p:spPr>
          <a:xfrm>
            <a:off x="245097" y="1534163"/>
            <a:ext cx="2393627" cy="47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9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08DDE-145F-4074-80B9-92A82F6FAE3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73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324537-D8D1-48D3-974C-5042DA3C845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51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668FF8-54C7-4DF9-8A67-F38E3581107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446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75388-B0D9-4736-A094-62A2D51967A2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81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D490C-FF0D-4F46-8C01-08A44D82182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96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181D73-72B9-4F40-AAB3-13A26D71003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9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EB386-C260-4244-9F22-71C5BEEAC684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018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F87C7D-74E9-46ED-A87F-311C55ECC35B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546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6AC6E1-8710-4FFE-A2E3-E9AEBE0B5C2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005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1E83-6A45-4B5F-90DA-DAF1AA28FCE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91579" y="92974"/>
            <a:ext cx="2926334" cy="7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90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1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23825" y="138112"/>
            <a:ext cx="11944351" cy="6581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03412" y="1049867"/>
            <a:ext cx="113652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2987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4AC64-A4F1-1B8A-0AC6-4786A9B97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1F2B5-8413-5EB3-B83E-FB8357100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085EC-A9B6-5923-ED6D-895F6E8C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62C6-8A70-432E-A122-162871335AD1}" type="datetime3">
              <a:rPr lang="en-US" smtClean="0"/>
              <a:t>6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C7944-D37B-7872-0157-363B93FA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B8F9D-BD9A-C814-1FC1-B509D261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75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B3BE-F57D-DA7E-5851-6DA98294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19E7-1597-B027-1498-94C3B6A09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6EB0F-2E52-724D-9781-0E75933C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51BE-ECC1-48F5-8723-A0461878BE14}" type="datetime3">
              <a:rPr lang="en-US" smtClean="0"/>
              <a:t>6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74792-13F4-3FF3-4F7A-8EED062B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60C60-0F54-2F6B-2CEE-9E0E0156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59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984D-EBB1-09FC-80CF-76E77B02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24C25-3780-0A64-BC51-7E73C81F5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54AC3-B0FD-3951-035E-D08C4C90D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8A72-2DDC-4F0C-A767-031A00DA58F0}" type="datetime3">
              <a:rPr lang="en-US" smtClean="0"/>
              <a:t>6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2F70A-B226-43F3-56D5-B4DDFE43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E0301-4A22-9AA8-709D-332E1C901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264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3474-1720-0F74-B17B-E84FC50C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15A8F-9597-F873-5200-2938A5DCD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D42FB-4CF6-A56B-4859-4B6AFA300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27CD2-F085-A433-6B21-C4760E9C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CC46-76C0-4E18-84BB-05A13C50C19C}" type="datetime3">
              <a:rPr lang="en-US" smtClean="0"/>
              <a:t>6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70E5-5BAD-34BF-D5D7-3563FEF9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492B8-D262-2FDF-B614-AB43A7AE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394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B646-8096-67E5-4529-BDB03D9A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AAA4A-47B0-B186-D66C-512D48A5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F622B-39F0-438B-DE66-A663E1714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4984E-0678-0232-E59D-C531B6EB1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3725E2-31E5-81AE-22CD-2CF48F4BC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4A57D5-B59F-AA5C-531D-FDF65C10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DFB99-E076-4686-8771-D9C9ED280317}" type="datetime3">
              <a:rPr lang="en-US" smtClean="0"/>
              <a:t>6 September 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48A68-6C29-6841-3EA0-D2476881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F046F-B9C5-2135-5E78-55B99B64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873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12CE-8E63-DE47-926A-2806046A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8DACC-A9CF-25B8-FADB-EF71DAB0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C4A86-EE5E-430A-B201-DD153C1D7118}" type="datetime3">
              <a:rPr lang="en-US" smtClean="0"/>
              <a:t>6 September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3D948-3FD6-54EB-FA88-0A79DFDE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2A27F-E85E-D7BE-820F-5D7F4EA3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7177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4A645-4076-0DD1-F21F-7DA2E7DB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3B7A-C703-449C-9BCB-CEBE69179CE9}" type="datetime3">
              <a:rPr lang="en-US" smtClean="0"/>
              <a:t>6 September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96299-65B8-236C-5185-326DF628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C14A8-2899-01EE-55FF-D21207C4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6766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89C4-3A76-6231-0EB8-B7C0DF9B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0766E-B614-6E76-EE88-55095546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8D78-1D4B-6D37-81ED-B8EA60969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9C743-95E7-DA77-7E6B-91D4BDC29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A2E3-21D6-49A4-B7BE-5081A6C2E030}" type="datetime3">
              <a:rPr lang="en-US" smtClean="0"/>
              <a:t>6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D41F0-E639-1C42-61E6-67955F56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EF771-7E4C-27D5-A567-4DF5D5BF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8110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586A-A7F3-4A9F-305E-21667DAD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1AD13B-C499-3285-F0C2-B5D8500EB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7E8D0-3A04-7DF5-1548-144A954F0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97146-77A6-BBD1-81B6-2FBA1D87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6AB8-E909-429F-ABE1-7FDF375A8A24}" type="datetime3">
              <a:rPr lang="en-US" smtClean="0"/>
              <a:t>6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01874-D9CC-80C3-6645-94CF4362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ACB1A-E2BD-5A9B-ACEB-ACE55378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51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948CF-E4AA-AE25-988E-9AF6DED0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E07B0-B5FB-7F01-D1C7-8FD401701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F934E-37C1-DF05-2785-927F20E5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A0AB-A797-49F1-91CA-409B68B2BAD3}" type="datetime3">
              <a:rPr lang="en-US" smtClean="0"/>
              <a:t>6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6E886-8046-0491-18E0-C7DA4996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E8017-6C16-A82D-097D-82855570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837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A64DB-7E8E-77AA-AABA-01287D38E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38464-7BCC-168D-22E1-3396237C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F9B8F-0D16-DFC3-1252-12480851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4285-B41F-4602-8FE6-74B6B1A68E7C}" type="datetime3">
              <a:rPr lang="en-US" smtClean="0"/>
              <a:t>6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1CA6E-6281-CC49-2B16-DD159250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E7C1-2CA7-5D69-31E0-2E3ED2E1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707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01" preserve="1" userDrawn="1">
  <p:cSld name="2_0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197815" y="1166622"/>
            <a:ext cx="117963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514882" y="393267"/>
            <a:ext cx="6479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latin typeface="+mj-lt"/>
              </a:rPr>
              <a:t>REVA Academy</a:t>
            </a:r>
            <a:r>
              <a:rPr lang="en-IN" sz="1400" baseline="0" dirty="0">
                <a:latin typeface="+mj-lt"/>
              </a:rPr>
              <a:t> for Corporate Excellence</a:t>
            </a:r>
          </a:p>
          <a:p>
            <a:pPr algn="r"/>
            <a:r>
              <a:rPr lang="en-IN" sz="1200" baseline="0" dirty="0">
                <a:latin typeface="+mj-lt"/>
              </a:rPr>
              <a:t>www.race.reva.edu.in </a:t>
            </a:r>
            <a:endParaRPr lang="en-IN" sz="12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" y="143294"/>
            <a:ext cx="2444405" cy="9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285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77889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362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0CCA17-D100-45DE-A2F3-E686E13D448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39" y="16774"/>
            <a:ext cx="2577673" cy="687380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719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31680" y="1534"/>
            <a:ext cx="2566262" cy="684266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1503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07879" y="32014"/>
            <a:ext cx="2407921" cy="642113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2616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40" y="32014"/>
            <a:ext cx="2608152" cy="695508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267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Main 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www.websitename.com"/>
          <p:cNvSpPr txBox="1">
            <a:spLocks noGrp="1"/>
          </p:cNvSpPr>
          <p:nvPr>
            <p:ph type="body" sz="quarter" idx="13"/>
          </p:nvPr>
        </p:nvSpPr>
        <p:spPr>
          <a:xfrm rot="16200000">
            <a:off x="11153149" y="3366675"/>
            <a:ext cx="144270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>
              <a:defRPr sz="900">
                <a:solidFill>
                  <a:srgbClr val="6A6E7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r>
              <a:t>www.websitename.com</a:t>
            </a:r>
          </a:p>
        </p:txBody>
      </p:sp>
      <p:sp>
        <p:nvSpPr>
          <p:cNvPr id="32" name="uplock"/>
          <p:cNvSpPr txBox="1">
            <a:spLocks noGrp="1"/>
          </p:cNvSpPr>
          <p:nvPr>
            <p:ph type="body" sz="quarter" idx="14"/>
          </p:nvPr>
        </p:nvSpPr>
        <p:spPr>
          <a:xfrm rot="16200000">
            <a:off x="-30351" y="3342438"/>
            <a:ext cx="695703" cy="17312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>
              <a:defRPr sz="1250">
                <a:solidFill>
                  <a:srgbClr val="1C1F25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uplock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07421" y="6476735"/>
            <a:ext cx="147397" cy="1397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1CFBFE9-716E-4CC4-9BA2-ADF2F90D6429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33909" y="1"/>
            <a:ext cx="2731691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000"/>
            </a:lvl1pPr>
          </a:lstStyle>
          <a:p>
            <a:r>
              <a:rPr lang="en-US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4052850256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"/>
            <a:ext cx="12192000" cy="6855461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237032" y="177459"/>
            <a:ext cx="11717936" cy="1204427"/>
            <a:chOff x="107455" y="133094"/>
            <a:chExt cx="8788452" cy="90332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55" y="133094"/>
              <a:ext cx="2245885" cy="90332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4791740" y="133094"/>
              <a:ext cx="4104167" cy="469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67" b="1" dirty="0">
                  <a:latin typeface="Calibri" panose="020F0502020204030204" pitchFamily="34" charset="0"/>
                  <a:cs typeface="Calibri" panose="020F0502020204030204" pitchFamily="34" charset="0"/>
                </a:rPr>
                <a:t>REVA Academy for Corporate Excellence (RACE)</a:t>
              </a:r>
            </a:p>
            <a:p>
              <a:pPr algn="r"/>
              <a:r>
                <a:rPr lang="en-I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www.race.reva.edu.in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1280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"/>
            <a:ext cx="12192000" cy="6855461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237032" y="177459"/>
            <a:ext cx="11717936" cy="1204427"/>
            <a:chOff x="107455" y="133094"/>
            <a:chExt cx="8788452" cy="90332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55" y="133094"/>
              <a:ext cx="2245885" cy="90332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4791740" y="133094"/>
              <a:ext cx="4104167" cy="469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67" b="1" dirty="0">
                  <a:latin typeface="Calibri" panose="020F0502020204030204" pitchFamily="34" charset="0"/>
                  <a:cs typeface="Calibri" panose="020F0502020204030204" pitchFamily="34" charset="0"/>
                </a:rPr>
                <a:t>REVA Academy for Corporate Excellence (RACE)</a:t>
              </a:r>
            </a:p>
            <a:p>
              <a:pPr algn="r"/>
              <a:r>
                <a:rPr lang="en-I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www.race.reva.edu.in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12879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01" userDrawn="1">
  <p:cSld name="3_0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197815" y="1166622"/>
            <a:ext cx="117963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514882" y="393267"/>
            <a:ext cx="6479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latin typeface="+mj-lt"/>
              </a:rPr>
              <a:t>REVA Academy</a:t>
            </a:r>
            <a:r>
              <a:rPr lang="en-IN" sz="1400" baseline="0" dirty="0">
                <a:latin typeface="+mj-lt"/>
              </a:rPr>
              <a:t> for Corporate Excellence</a:t>
            </a:r>
          </a:p>
          <a:p>
            <a:pPr algn="r"/>
            <a:r>
              <a:rPr lang="en-IN" sz="1200" baseline="0" dirty="0">
                <a:latin typeface="+mj-lt"/>
              </a:rPr>
              <a:t>www.race.reva.edu.in </a:t>
            </a:r>
            <a:endParaRPr lang="en-IN" sz="12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" y="143294"/>
            <a:ext cx="2444405" cy="9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7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1468A9-DCD9-466F-99E8-72F5C99304C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1D3BC5-34EF-44B2-83AC-D5533E46F0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41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5BC2F2-4D2A-A620-8B97-4370377B1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21170-226C-1291-214E-AA69A4A82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BC54E-B23E-83D9-219D-3E94E86A8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B8086-8CEF-4375-ABEF-185B80135AEB}" type="datetime3">
              <a:rPr lang="en-US" smtClean="0"/>
              <a:t>6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31A5-9A34-06DF-31F6-C0E8F5A81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A8EB8-6738-EBF2-0CE3-80E7244AE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9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875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539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src.nist.gov/pubs/fips/204/final" TargetMode="External"/><Relationship Id="rId2" Type="http://schemas.openxmlformats.org/officeDocument/2006/relationships/hyperlink" Target="https://csrc.nist.gov/pubs/fips/203/fina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5.com/labs/articles/the-state-of-pqc-on-the-web" TargetMode="External"/><Relationship Id="rId2" Type="http://schemas.openxmlformats.org/officeDocument/2006/relationships/hyperlink" Target="https://www.mastercard.com/content/dam/mccom/shared/news-and-trends/stories/2025/quantum-explainer-and-white-paper/Migration-to-post-quantu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jsrmt.com/index.php/ijsrmt/article/download/594/177/3694" TargetMode="External"/><Relationship Id="rId4" Type="http://schemas.openxmlformats.org/officeDocument/2006/relationships/hyperlink" Target="https://csrc.nist.gov/csrc/media/Events/2022/fourth-pqc-standardization-conference/documents/papers/post-quantum-protocols-for-banking-applications.pdf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Elliptic+Curve+Diffie-Hellman+Ephemeral&amp;oq=ECDHE&amp;gs_lcrp=EgZjaHJvbWUyBggAEEUYOdIBBzQzNWowajeoAgCwAgA&amp;sourceid=chrome&amp;ie=UTF-8&amp;ved=2ahUKEwjG4rLCqIyTAxWT8jgGHZsvCQIQgK4QegYIAQgAEA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382" y="1045209"/>
            <a:ext cx="6941139" cy="3974660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sv-SE" sz="2400" dirty="0">
                <a:cs typeface="Arial" panose="020B0604020202020204" pitchFamily="34" charset="0"/>
              </a:rPr>
              <a:t>Quantum Attack Risk Profiler &amp; Migration Planner (QARP)</a:t>
            </a:r>
            <a:br>
              <a:rPr lang="sv-SE" sz="2400" dirty="0">
                <a:cs typeface="Arial" panose="020B0604020202020204" pitchFamily="34" charset="0"/>
              </a:rPr>
            </a:br>
            <a:br>
              <a:rPr lang="en-US" sz="3200" b="1" dirty="0">
                <a:cs typeface="Arial" panose="020B0604020202020204" pitchFamily="34" charset="0"/>
              </a:rPr>
            </a:b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2522" y="2915884"/>
            <a:ext cx="4307972" cy="2232346"/>
          </a:xfrm>
        </p:spPr>
        <p:txBody>
          <a:bodyPr>
            <a:noAutofit/>
          </a:bodyPr>
          <a:lstStyle/>
          <a:p>
            <a:pPr algn="r"/>
            <a:r>
              <a:rPr lang="en-US" sz="1800" b="1" dirty="0">
                <a:solidFill>
                  <a:schemeClr val="bg1"/>
                </a:solidFill>
                <a:cs typeface="Arial" panose="020B0604020202020204" pitchFamily="34" charset="0"/>
              </a:rPr>
              <a:t>Name: Anirban Dasgupta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Program: MTech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Batch: CS13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SRN: R24TF011 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Date: 04/09/2026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Capstone 1/2: 2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485425" y="6119446"/>
            <a:ext cx="6175069" cy="352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dirty="0">
                <a:solidFill>
                  <a:prstClr val="white"/>
                </a:solidFill>
                <a:latin typeface="Roboto Slab"/>
                <a:ea typeface="Calibri" panose="020F0502020204030204" pitchFamily="34" charset="0"/>
                <a:cs typeface="Arial" panose="020B0604020202020204" pitchFamily="34" charset="0"/>
              </a:rPr>
              <a:t>race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Calibri" panose="020F0502020204030204" pitchFamily="34" charset="0"/>
                <a:cs typeface="Arial" panose="020B0604020202020204" pitchFamily="34" charset="0"/>
              </a:rPr>
              <a:t>.reva.edu.in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646333" y="316049"/>
            <a:ext cx="5267501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 Slab"/>
                <a:ea typeface="+mj-ea"/>
                <a:cs typeface="+mj-cs"/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3819035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AFB0D-B6BF-17A1-5083-D53D1C7F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7B6815-C78F-C537-5A38-1CF8A9D56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Introduction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57BA-F00B-F8C5-25C8-23E2885C9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3B8BAC-E469-4454-8372-98C2A6AAEDD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93F2A-7EE2-ED4A-3A00-B6A8A492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C9784C-F8E2-45C6-7051-69C00F20F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86849F-225B-3A0C-E348-87C1EA2E5556}"/>
              </a:ext>
            </a:extLst>
          </p:cNvPr>
          <p:cNvSpPr txBox="1"/>
          <p:nvPr/>
        </p:nvSpPr>
        <p:spPr>
          <a:xfrm>
            <a:off x="634301" y="977115"/>
            <a:ext cx="1089115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B2E451-2469-E95C-7A0F-6F279B1907AF}"/>
                  </a:ext>
                </a:extLst>
              </p:cNvPr>
              <p:cNvSpPr txBox="1"/>
              <p:nvPr/>
            </p:nvSpPr>
            <p:spPr>
              <a:xfrm>
                <a:off x="610241" y="1215718"/>
                <a:ext cx="11327283" cy="4784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spcBef>
                    <a:spcPts val="900"/>
                  </a:spcBef>
                  <a:spcAft>
                    <a:spcPts val="300"/>
                  </a:spcAft>
                  <a:buNone/>
                </a:pPr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1. </a:t>
                </a:r>
                <a:r>
                  <a:rPr lang="en-IN" sz="1400" b="1" i="0" dirty="0">
                    <a:solidFill>
                      <a:schemeClr val="tx1"/>
                    </a:solidFill>
                    <a:effectLst/>
                    <a:latin typeface="+mn-lt"/>
                  </a:rPr>
                  <a:t>Context &amp; Threat Timeline</a:t>
                </a:r>
              </a:p>
              <a:p>
                <a:pPr marL="342900" marR="0" lvl="0" indent="-342900" algn="l">
                  <a:buFont typeface="Arial" panose="020B0604020202020204" pitchFamily="34" charset="0"/>
                  <a:buChar char="•"/>
                </a:pPr>
                <a:r>
                  <a:rPr lang="en-IN" sz="1400" b="1" i="0" dirty="0">
                    <a:solidFill>
                      <a:schemeClr val="tx1"/>
                    </a:solidFill>
                    <a:effectLst/>
                    <a:latin typeface="+mn-lt"/>
                  </a:rPr>
                  <a:t>"Harvest Now, Decrypt Later" (HNDL):</a:t>
                </a:r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 Adversaries are currently intercepting and archiving encrypted interbank traffic (SWIFT, ISO 20022, Fedwire). When Cryptanalytically Relevant Quantum Computers (CRQCs) emerge, stored data will be decrypted retrospectively.</a:t>
                </a:r>
              </a:p>
              <a:p>
                <a:pPr marL="342900" marR="0" lvl="0" indent="-342900" algn="l">
                  <a:buFont typeface="Arial" panose="020B0604020202020204" pitchFamily="34" charset="0"/>
                  <a:buChar char="•"/>
                </a:pPr>
                <a:r>
                  <a:rPr lang="en-IN" sz="1400" b="1" i="0" dirty="0">
                    <a:solidFill>
                      <a:schemeClr val="tx1"/>
                    </a:solidFill>
                    <a:effectLst/>
                    <a:latin typeface="+mn-lt"/>
                  </a:rPr>
                  <a:t>Mosca’s Theorem (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1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4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14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IN" sz="1400" b="1" i="0" dirty="0">
                    <a:solidFill>
                      <a:schemeClr val="tx1"/>
                    </a:solidFill>
                    <a:effectLst/>
                    <a:latin typeface="+mn-lt"/>
                  </a:rPr>
                  <a:t>):</a:t>
                </a:r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 For financial institutions, customer data shelf life (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1400" i="0">
                        <a:latin typeface="Cambria Math" panose="02040503050406030204" pitchFamily="18" charset="0"/>
                      </a:rPr>
                      <m:t>≈10</m:t>
                    </m:r>
                    <m:r>
                      <m:rPr>
                        <m:nor/>
                      </m:rPr>
                      <a:rPr lang="en-IN" sz="1400" b="0" i="0">
                        <a:latin typeface="+mn-lt"/>
                      </a:rPr>
                      <m:t>–</m:t>
                    </m:r>
                    <m:r>
                      <a:rPr lang="en-IN" sz="1400" b="0" i="0"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nor/>
                      </m:rPr>
                      <a:rPr lang="en-IN" sz="1400" b="0" i="0">
                        <a:latin typeface="+mn-lt"/>
                      </a:rPr>
                      <m:t> years</m:t>
                    </m:r>
                  </m:oMath>
                </a14:m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) plus migration execution time (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400" i="0">
                        <a:latin typeface="Cambria Math" panose="02040503050406030204" pitchFamily="18" charset="0"/>
                      </a:rPr>
                      <m:t>≈5</m:t>
                    </m:r>
                    <m:r>
                      <m:rPr>
                        <m:nor/>
                      </m:rPr>
                      <a:rPr lang="en-IN" sz="1400" b="0" i="0">
                        <a:latin typeface="+mn-lt"/>
                      </a:rPr>
                      <m:t>–</m:t>
                    </m:r>
                    <m:r>
                      <a:rPr lang="en-IN" sz="1400" b="0" i="0"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nor/>
                      </m:rPr>
                      <a:rPr lang="en-IN" sz="1400" b="0" i="0">
                        <a:latin typeface="+mn-lt"/>
                      </a:rPr>
                      <m:t> years</m:t>
                    </m:r>
                  </m:oMath>
                </a14:m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) far exceeds the estimated quantum arrival runway (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IN" sz="1400" i="0">
                        <a:latin typeface="Cambria Math" panose="02040503050406030204" pitchFamily="18" charset="0"/>
                      </a:rPr>
                      <m:t>≤2034</m:t>
                    </m:r>
                  </m:oMath>
                </a14:m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). Immediate planning is mandatory.</a:t>
                </a:r>
              </a:p>
              <a:p>
                <a:pPr marL="342900" marR="0" lvl="0" indent="-342900" algn="l">
                  <a:buFont typeface="Arial" panose="020B0604020202020204" pitchFamily="34" charset="0"/>
                  <a:buChar char="•"/>
                </a:pPr>
                <a:endParaRPr lang="en-IN" sz="1400" b="0" i="0" dirty="0"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L="0" marR="0" indent="0" algn="l">
                  <a:spcBef>
                    <a:spcPts val="900"/>
                  </a:spcBef>
                  <a:spcAft>
                    <a:spcPts val="300"/>
                  </a:spcAft>
                  <a:buNone/>
                </a:pPr>
                <a:r>
                  <a:rPr lang="en-IN" sz="1400" b="1" i="0" dirty="0">
                    <a:solidFill>
                      <a:schemeClr val="tx1"/>
                    </a:solidFill>
                    <a:effectLst/>
                    <a:latin typeface="+mn-lt"/>
                  </a:rPr>
                  <a:t>2. The Cryptographic Asymmetry Shift</a:t>
                </a:r>
              </a:p>
              <a:p>
                <a:pPr marL="342900" marR="0" lvl="0" indent="-342900" algn="l">
                  <a:buFont typeface="Arial" panose="020B0604020202020204" pitchFamily="34" charset="0"/>
                  <a:buChar char="•"/>
                </a:pPr>
                <a:r>
                  <a:rPr lang="en-IN" sz="1400" b="1" i="0" dirty="0">
                    <a:solidFill>
                      <a:schemeClr val="tx1"/>
                    </a:solidFill>
                    <a:effectLst/>
                    <a:latin typeface="+mn-lt"/>
                  </a:rPr>
                  <a:t>Asymmetric Infrastructure Breakdown:</a:t>
                </a:r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 Shor’s algorithm entirely compromises RSA (prime factorization) and ECC/ECDSA (discrete logarithm), invalidating existing TLS handshakes, digital signatures, and tokenization.</a:t>
                </a:r>
              </a:p>
              <a:p>
                <a:pPr marL="342900" marR="0" lvl="0" indent="-342900" algn="l">
                  <a:buFont typeface="Arial" panose="020B0604020202020204" pitchFamily="34" charset="0"/>
                  <a:buChar char="•"/>
                </a:pPr>
                <a:r>
                  <a:rPr lang="en-IN" sz="1400" b="1" i="0" dirty="0">
                    <a:solidFill>
                      <a:schemeClr val="tx1"/>
                    </a:solidFill>
                    <a:effectLst/>
                    <a:latin typeface="+mn-lt"/>
                  </a:rPr>
                  <a:t>Symmetric Security Halving:</a:t>
                </a:r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 Grover’s algorithm reduces symmetric brute-force complexity to 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1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. Standard </a:t>
                </a:r>
                <a:r>
                  <a:rPr lang="en-IN" sz="1400" b="1" i="0" dirty="0">
                    <a:solidFill>
                      <a:schemeClr val="tx1"/>
                    </a:solidFill>
                    <a:effectLst/>
                    <a:latin typeface="+mn-lt"/>
                  </a:rPr>
                  <a:t>AES-128 drops to an effective 64 bits of security</a:t>
                </a:r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 (cryptographically insecure), necessitating a mandatory transition to AES-256.</a:t>
                </a:r>
              </a:p>
              <a:p>
                <a:pPr marR="0" lvl="0" algn="l"/>
                <a:endParaRPr lang="en-IN" sz="1400" b="0" i="0" dirty="0"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L="0" marR="0" indent="0" algn="l">
                  <a:spcBef>
                    <a:spcPts val="900"/>
                  </a:spcBef>
                  <a:spcAft>
                    <a:spcPts val="300"/>
                  </a:spcAft>
                  <a:buNone/>
                </a:pPr>
                <a:r>
                  <a:rPr lang="en-IN" sz="1400" b="1" i="0" dirty="0">
                    <a:solidFill>
                      <a:schemeClr val="tx1"/>
                    </a:solidFill>
                    <a:effectLst/>
                    <a:latin typeface="+mn-lt"/>
                  </a:rPr>
                  <a:t>3. Why Financial Infrastructure is Uniquely Vulnerable</a:t>
                </a:r>
              </a:p>
              <a:p>
                <a:pPr marL="342900" marR="0" lvl="0" indent="-342900" algn="l">
                  <a:buFont typeface="Arial" panose="020B0604020202020204" pitchFamily="34" charset="0"/>
                  <a:buChar char="•"/>
                </a:pPr>
                <a:r>
                  <a:rPr lang="en-IN" sz="1400" b="1" i="0" dirty="0">
                    <a:solidFill>
                      <a:schemeClr val="tx1"/>
                    </a:solidFill>
                    <a:effectLst/>
                    <a:latin typeface="+mn-lt"/>
                  </a:rPr>
                  <a:t>High-Throughput / Low-Latency Constraints:</a:t>
                </a:r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 Payment settlement microservices operate at </a:t>
                </a:r>
                <a14:m>
                  <m:oMath xmlns:m="http://schemas.openxmlformats.org/officeDocument/2006/math">
                    <m:r>
                      <a:rPr lang="en-IN" sz="1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1400" i="0">
                        <a:latin typeface="Cambria Math" panose="02040503050406030204" pitchFamily="18" charset="0"/>
                      </a:rPr>
                      <m:t>,000</m:t>
                    </m:r>
                    <m:r>
                      <m:rPr>
                        <m:nor/>
                      </m:rPr>
                      <a:rPr lang="en-IN" sz="1400" b="0" i="0">
                        <a:latin typeface="+mn-lt"/>
                      </a:rPr>
                      <m:t> to </m:t>
                    </m:r>
                    <m:r>
                      <a:rPr lang="en-IN" sz="1400" b="0" i="0">
                        <a:latin typeface="Cambria Math" panose="02040503050406030204" pitchFamily="18" charset="0"/>
                      </a:rPr>
                      <m:t>10,000+</m:t>
                    </m:r>
                    <m:r>
                      <m:rPr>
                        <m:nor/>
                      </m:rPr>
                      <a:rPr lang="en-IN" sz="1400" b="0" i="0">
                        <a:latin typeface="+mn-lt"/>
                      </a:rPr>
                      <m:t> TPS</m:t>
                    </m:r>
                  </m:oMath>
                </a14:m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 with sub-50 </a:t>
                </a:r>
                <a:r>
                  <a:rPr lang="en-IN" sz="1400" b="0" i="0" dirty="0" err="1">
                    <a:solidFill>
                      <a:schemeClr val="tx1"/>
                    </a:solidFill>
                    <a:effectLst/>
                    <a:latin typeface="+mn-lt"/>
                  </a:rPr>
                  <a:t>ms</a:t>
                </a:r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 round-trip latency SLAs.</a:t>
                </a:r>
              </a:p>
              <a:p>
                <a:pPr marL="342900" marR="0" lvl="0" indent="-342900" algn="l">
                  <a:buFont typeface="Arial" panose="020B0604020202020204" pitchFamily="34" charset="0"/>
                  <a:buChar char="•"/>
                </a:pPr>
                <a:r>
                  <a:rPr lang="en-IN" sz="1400" b="1" i="0" dirty="0">
                    <a:solidFill>
                      <a:schemeClr val="tx1"/>
                    </a:solidFill>
                    <a:effectLst/>
                    <a:latin typeface="+mn-lt"/>
                  </a:rPr>
                  <a:t>Hardware Bottlenecks:</a:t>
                </a:r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 Banking HSMs rely on ASIC accelerators optimized for modular arithmetic. Lattice-based cryptography requires intense polynomial multiplication, slashing per-core throughput by </a:t>
                </a:r>
                <a14:m>
                  <m:oMath xmlns:m="http://schemas.openxmlformats.org/officeDocument/2006/math">
                    <m:r>
                      <a:rPr lang="en-IN" sz="1400">
                        <a:latin typeface="Cambria Math" panose="02040503050406030204" pitchFamily="18" charset="0"/>
                      </a:rPr>
                      <m:t>70</m:t>
                    </m:r>
                    <m:r>
                      <a:rPr lang="en-IN" sz="1400" i="0"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nor/>
                      </m:rPr>
                      <a:rPr lang="en-IN" sz="1400" b="0" i="0">
                        <a:latin typeface="+mn-lt"/>
                      </a:rPr>
                      <m:t>–</m:t>
                    </m:r>
                    <m:r>
                      <a:rPr lang="en-IN" sz="1400" b="0" i="0">
                        <a:latin typeface="Cambria Math" panose="02040503050406030204" pitchFamily="18" charset="0"/>
                      </a:rPr>
                      <m:t>85%</m:t>
                    </m:r>
                  </m:oMath>
                </a14:m>
                <a:r>
                  <a:rPr lang="en-IN" sz="1400" b="0" i="0" dirty="0">
                    <a:solidFill>
                      <a:schemeClr val="tx1"/>
                    </a:solidFill>
                    <a:effectLst/>
                    <a:latin typeface="+mn-lt"/>
                  </a:rPr>
                  <a:t>.</a:t>
                </a:r>
              </a:p>
              <a:p>
                <a:pPr>
                  <a:buNone/>
                </a:pPr>
                <a:br>
                  <a:rPr lang="en-IN" sz="1400" dirty="0"/>
                </a:br>
                <a:endParaRPr lang="en-IN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B2E451-2469-E95C-7A0F-6F279B190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41" y="1215718"/>
                <a:ext cx="11327283" cy="4784964"/>
              </a:xfrm>
              <a:prstGeom prst="rect">
                <a:avLst/>
              </a:prstGeom>
              <a:blipFill>
                <a:blip r:embed="rId2"/>
                <a:stretch>
                  <a:fillRect l="-161" t="-127" r="-4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37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DE61-58C3-25BA-C95A-5D5322CF7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919" y="304490"/>
            <a:ext cx="8382000" cy="670055"/>
          </a:xfrm>
        </p:spPr>
        <p:txBody>
          <a:bodyPr>
            <a:normAutofit/>
          </a:bodyPr>
          <a:lstStyle/>
          <a:p>
            <a:r>
              <a:rPr lang="en-US" altLang="ko-KR" dirty="0">
                <a:cs typeface="Arial" panose="020B0604020202020204" pitchFamily="34" charset="0"/>
              </a:rPr>
              <a:t>Literature Review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AF0E5-4D51-3DB0-2EAE-F7C3562A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3CDB30-232F-4967-8FE5-2B51CA38926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608B7B81-BA66-02A6-C7F3-B332395FCC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1448076"/>
                  </p:ext>
                </p:extLst>
              </p:nvPr>
            </p:nvGraphicFramePr>
            <p:xfrm>
              <a:off x="339112" y="1074523"/>
              <a:ext cx="11852888" cy="524502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50969">
                      <a:extLst>
                        <a:ext uri="{9D8B030D-6E8A-4147-A177-3AD203B41FA5}">
                          <a16:colId xmlns:a16="http://schemas.microsoft.com/office/drawing/2014/main" val="1961210798"/>
                        </a:ext>
                      </a:extLst>
                    </a:gridCol>
                    <a:gridCol w="1781674">
                      <a:extLst>
                        <a:ext uri="{9D8B030D-6E8A-4147-A177-3AD203B41FA5}">
                          <a16:colId xmlns:a16="http://schemas.microsoft.com/office/drawing/2014/main" val="3306537469"/>
                        </a:ext>
                      </a:extLst>
                    </a:gridCol>
                    <a:gridCol w="857490">
                      <a:extLst>
                        <a:ext uri="{9D8B030D-6E8A-4147-A177-3AD203B41FA5}">
                          <a16:colId xmlns:a16="http://schemas.microsoft.com/office/drawing/2014/main" val="1633340882"/>
                        </a:ext>
                      </a:extLst>
                    </a:gridCol>
                    <a:gridCol w="1629137">
                      <a:extLst>
                        <a:ext uri="{9D8B030D-6E8A-4147-A177-3AD203B41FA5}">
                          <a16:colId xmlns:a16="http://schemas.microsoft.com/office/drawing/2014/main" val="16426956"/>
                        </a:ext>
                      </a:extLst>
                    </a:gridCol>
                    <a:gridCol w="1848462">
                      <a:extLst>
                        <a:ext uri="{9D8B030D-6E8A-4147-A177-3AD203B41FA5}">
                          <a16:colId xmlns:a16="http://schemas.microsoft.com/office/drawing/2014/main" val="333333027"/>
                        </a:ext>
                      </a:extLst>
                    </a:gridCol>
                    <a:gridCol w="2591526">
                      <a:extLst>
                        <a:ext uri="{9D8B030D-6E8A-4147-A177-3AD203B41FA5}">
                          <a16:colId xmlns:a16="http://schemas.microsoft.com/office/drawing/2014/main" val="858140143"/>
                        </a:ext>
                      </a:extLst>
                    </a:gridCol>
                    <a:gridCol w="2693630">
                      <a:extLst>
                        <a:ext uri="{9D8B030D-6E8A-4147-A177-3AD203B41FA5}">
                          <a16:colId xmlns:a16="http://schemas.microsoft.com/office/drawing/2014/main" val="367764134"/>
                        </a:ext>
                      </a:extLst>
                    </a:gridCol>
                  </a:tblGrid>
                  <a:tr h="503257"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 dirty="0">
                              <a:effectLst/>
                            </a:rPr>
                            <a:t>No.</a:t>
                          </a:r>
                        </a:p>
                      </a:txBody>
                      <a:tcPr marL="60960" marR="60960" marT="60960" marB="60960" anchor="b"/>
                    </a:tc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 dirty="0">
                              <a:effectLst/>
                            </a:rPr>
                            <a:t>Title</a:t>
                          </a:r>
                        </a:p>
                      </a:txBody>
                      <a:tcPr marL="60960" marR="60960" marT="60960" marB="60960" anchor="b"/>
                    </a:tc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 dirty="0">
                              <a:effectLst/>
                            </a:rPr>
                            <a:t>Authors and Year</a:t>
                          </a:r>
                        </a:p>
                      </a:txBody>
                      <a:tcPr marL="60960" marR="60960" marT="60960" marB="60960" anchor="b"/>
                    </a:tc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>
                              <a:effectLst/>
                            </a:rPr>
                            <a:t>Journal/Conference</a:t>
                          </a:r>
                        </a:p>
                      </a:txBody>
                      <a:tcPr marL="60960" marR="60960" marT="60960" marB="60960" anchor="b"/>
                    </a:tc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 dirty="0">
                              <a:effectLst/>
                            </a:rPr>
                            <a:t>Description</a:t>
                          </a:r>
                        </a:p>
                      </a:txBody>
                      <a:tcPr marL="60960" marR="60960" marT="60960" marB="60960" anchor="b"/>
                    </a:tc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 dirty="0">
                              <a:effectLst/>
                            </a:rPr>
                            <a:t>Insights</a:t>
                          </a:r>
                        </a:p>
                      </a:txBody>
                      <a:tcPr marL="60960" marR="60960" marT="60960" marB="60960" anchor="b"/>
                    </a:tc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 dirty="0">
                              <a:effectLst/>
                            </a:rPr>
                            <a:t>Research Gaps/Comments</a:t>
                          </a:r>
                        </a:p>
                      </a:txBody>
                      <a:tcPr marL="60960" marR="60960" marT="60960" marB="60960" anchor="b"/>
                    </a:tc>
                    <a:extLst>
                      <a:ext uri="{0D108BD9-81ED-4DB2-BD59-A6C34878D82A}">
                        <a16:rowId xmlns:a16="http://schemas.microsoft.com/office/drawing/2014/main" val="1770980956"/>
                      </a:ext>
                    </a:extLst>
                  </a:tr>
                  <a:tr h="593768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000" b="1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  <a:endParaRPr lang="en-IN" sz="1000" b="0" i="0" dirty="0">
                            <a:solidFill>
                              <a:srgbClr val="10101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FIPS 203: ML-KEM &amp; FIPS 204: ML-DSA Standards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NIST Computer Security Division (2024)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NIST Federal Information Processing Standards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Finalized post-quantum standards: Module-Lattice Key Encapsulation (ML-KEM) and Digital Signatures (ML-DSA).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Establishes fixed public key and signature sizes: ML-KEM-768 (</a:t>
                          </a:r>
                          <a14:m>
                            <m:oMath xmlns:m="http://schemas.openxmlformats.org/officeDocument/2006/math">
                              <m:r>
                                <a:rPr lang="en-IN" sz="1000" i="0" smtClean="0">
                                  <a:latin typeface="Cambria Math" panose="02040503050406030204" pitchFamily="18" charset="0"/>
                                </a:rPr>
                                <m:t>1,184</m:t>
                              </m:r>
                              <m:r>
                                <m:rPr>
                                  <m:nor/>
                                </m:rPr>
                                <a:rPr lang="en-IN" sz="1000" b="0" i="0">
                                  <a:latin typeface="+mj-lt"/>
                                </a:rPr>
                                <m:t> B</m:t>
                              </m:r>
                            </m:oMath>
                          </a14:m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), ML-DSA-65 (</a:t>
                          </a:r>
                          <a14:m>
                            <m:oMath xmlns:m="http://schemas.openxmlformats.org/officeDocument/2006/math">
                              <m:r>
                                <a:rPr lang="en-IN" sz="1000" i="0" smtClean="0">
                                  <a:latin typeface="Cambria Math" panose="02040503050406030204" pitchFamily="18" charset="0"/>
                                </a:rPr>
                                <m:t>1,952</m:t>
                              </m:r>
                              <m:r>
                                <m:rPr>
                                  <m:nor/>
                                </m:rPr>
                                <a:rPr lang="en-IN" sz="1000" b="0" i="0">
                                  <a:latin typeface="+mj-lt"/>
                                </a:rPr>
                                <m:t> B</m:t>
                              </m:r>
                            </m:oMath>
                          </a14:m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 key, </a:t>
                          </a:r>
                          <a14:m>
                            <m:oMath xmlns:m="http://schemas.openxmlformats.org/officeDocument/2006/math">
                              <m:r>
                                <a:rPr lang="en-IN" sz="1000" i="0" smtClean="0">
                                  <a:latin typeface="Cambria Math" panose="02040503050406030204" pitchFamily="18" charset="0"/>
                                </a:rPr>
                                <m:t>3,300</m:t>
                              </m:r>
                              <m:r>
                                <m:rPr>
                                  <m:nor/>
                                </m:rPr>
                                <a:rPr lang="en-IN" sz="1000" b="0" i="0">
                                  <a:latin typeface="+mj-lt"/>
                                </a:rPr>
                                <m:t> B</m:t>
                              </m:r>
                            </m:oMath>
                          </a14:m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 signature).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Pure algorithmic specification; excludes networking overhead, TCP MTU fragmentation, and banking SLA impacts.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2393717"/>
                      </a:ext>
                    </a:extLst>
                  </a:tr>
                  <a:tr h="593768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000" b="1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  <a:endParaRPr lang="en-IN" sz="1000" b="0" i="0">
                            <a:solidFill>
                              <a:srgbClr val="10101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Benchmarking Post-Quantum TLS 1.3 in High-Performance Environments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Paquin, Stebila, &amp; Tamvada (2023)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ACM Conference on Computer and Communications Security (CCS)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Evaluates end-to-end handshake overhead of lattice-based algorithms inside TLS 1.3 using Open Quantum Safe (</a:t>
                          </a:r>
                          <a:r>
                            <a:rPr lang="en-IN" sz="1000" b="0" i="0">
                              <a:solidFill>
                                <a:srgbClr val="A31515"/>
                              </a:solidFill>
                              <a:effectLst/>
                              <a:latin typeface="+mj-lt"/>
                            </a:rPr>
                            <a:t>liboqs</a:t>
                          </a: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).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Demonstrates that payload inflation dominates handshake time on networks with packet loss or latency jitter.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Focuses on raw lab metrics; does not model financial hardware scaling or enterprise API gateway logs.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8284863"/>
                      </a:ext>
                    </a:extLst>
                  </a:tr>
                  <a:tr h="842247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000" b="1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  <a:endParaRPr lang="en-IN" sz="1000" b="0" i="0">
                            <a:solidFill>
                              <a:srgbClr val="10101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Quantum Resource Estimation for Factoring RSA-2048 with Subquadratic Scheduling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Chevignard, Boyer, &amp; Pointcheval (2023)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IEEE Transactions on Quantum Engineering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Optimizes modular exponentiation and QFT circuits to factor 2048-bit integers using optimized surface codes.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Lowers physical qubit threshold beyond earlier estimates, pulling vulnerability timelines closer to the 2032–2034 horizon.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Theoretical physics focus; provides no translation mechanism for IT risk profilers or CISO roadmaps.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5293202"/>
                      </a:ext>
                    </a:extLst>
                  </a:tr>
                  <a:tr h="109072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Post-Quantum Authentication in TLS 1.3: A Performance Study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Sikeridis, Kampanakis, &amp; Devetsikiotis (2020)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IEEE </a:t>
                          </a:r>
                          <a:r>
                            <a:rPr lang="en-IN" sz="1000" b="0" i="0" dirty="0" err="1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NetSoft</a:t>
                          </a:r>
                          <a:endParaRPr lang="en-IN" sz="1000" b="0" i="0" dirty="0">
                            <a:solidFill>
                              <a:srgbClr val="10101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Explores packetization, TCP congestion windows, and packet loss when large PQC signatures exceed Ethernet MTU.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Identifies that multi-packet handshakes lead to TCP packet fragmentation, head-of-line blocking, and dropped calls.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Evaluates generic web endpoints; does not address banking settlement APIs (ISO 20022/SWIFT) or HSM core sizing.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41476526"/>
                      </a:ext>
                    </a:extLst>
                  </a:tr>
                  <a:tr h="109072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000" b="1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  <a:endParaRPr lang="en-IN" sz="1000" b="0" i="0" dirty="0">
                            <a:solidFill>
                              <a:srgbClr val="10101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Cybersecurity in an Era with Quantum Computers: Will We Be Ready?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Mosca, M. (2018)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IEEE Security &amp; Privacy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Defines mathematical risk criteria for quantum migration readiness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sz="100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1000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100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IN" sz="1000" i="0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en-IN" sz="100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oMath>
                          </a14:m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 theorem).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Establishes strategic planning imperative for enterprises holding long-lived confidential records and financial data.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High-level risk taxonomy; lacks an automated software implementation or quantitative latency-cost engine.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36263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608B7B81-BA66-02A6-C7F3-B332395FCC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1448076"/>
                  </p:ext>
                </p:extLst>
              </p:nvPr>
            </p:nvGraphicFramePr>
            <p:xfrm>
              <a:off x="339112" y="1074523"/>
              <a:ext cx="11852888" cy="524502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50969">
                      <a:extLst>
                        <a:ext uri="{9D8B030D-6E8A-4147-A177-3AD203B41FA5}">
                          <a16:colId xmlns:a16="http://schemas.microsoft.com/office/drawing/2014/main" val="1961210798"/>
                        </a:ext>
                      </a:extLst>
                    </a:gridCol>
                    <a:gridCol w="1781674">
                      <a:extLst>
                        <a:ext uri="{9D8B030D-6E8A-4147-A177-3AD203B41FA5}">
                          <a16:colId xmlns:a16="http://schemas.microsoft.com/office/drawing/2014/main" val="3306537469"/>
                        </a:ext>
                      </a:extLst>
                    </a:gridCol>
                    <a:gridCol w="857490">
                      <a:extLst>
                        <a:ext uri="{9D8B030D-6E8A-4147-A177-3AD203B41FA5}">
                          <a16:colId xmlns:a16="http://schemas.microsoft.com/office/drawing/2014/main" val="1633340882"/>
                        </a:ext>
                      </a:extLst>
                    </a:gridCol>
                    <a:gridCol w="1629137">
                      <a:extLst>
                        <a:ext uri="{9D8B030D-6E8A-4147-A177-3AD203B41FA5}">
                          <a16:colId xmlns:a16="http://schemas.microsoft.com/office/drawing/2014/main" val="16426956"/>
                        </a:ext>
                      </a:extLst>
                    </a:gridCol>
                    <a:gridCol w="1848462">
                      <a:extLst>
                        <a:ext uri="{9D8B030D-6E8A-4147-A177-3AD203B41FA5}">
                          <a16:colId xmlns:a16="http://schemas.microsoft.com/office/drawing/2014/main" val="333333027"/>
                        </a:ext>
                      </a:extLst>
                    </a:gridCol>
                    <a:gridCol w="2591526">
                      <a:extLst>
                        <a:ext uri="{9D8B030D-6E8A-4147-A177-3AD203B41FA5}">
                          <a16:colId xmlns:a16="http://schemas.microsoft.com/office/drawing/2014/main" val="858140143"/>
                        </a:ext>
                      </a:extLst>
                    </a:gridCol>
                    <a:gridCol w="2693630">
                      <a:extLst>
                        <a:ext uri="{9D8B030D-6E8A-4147-A177-3AD203B41FA5}">
                          <a16:colId xmlns:a16="http://schemas.microsoft.com/office/drawing/2014/main" val="367764134"/>
                        </a:ext>
                      </a:extLst>
                    </a:gridCol>
                  </a:tblGrid>
                  <a:tr h="503257"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 dirty="0">
                              <a:effectLst/>
                            </a:rPr>
                            <a:t>No.</a:t>
                          </a:r>
                        </a:p>
                      </a:txBody>
                      <a:tcPr marL="60960" marR="60960" marT="60960" marB="60960" anchor="b"/>
                    </a:tc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 dirty="0">
                              <a:effectLst/>
                            </a:rPr>
                            <a:t>Title</a:t>
                          </a:r>
                        </a:p>
                      </a:txBody>
                      <a:tcPr marL="60960" marR="60960" marT="60960" marB="60960" anchor="b"/>
                    </a:tc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 dirty="0">
                              <a:effectLst/>
                            </a:rPr>
                            <a:t>Authors and Year</a:t>
                          </a:r>
                        </a:p>
                      </a:txBody>
                      <a:tcPr marL="60960" marR="60960" marT="60960" marB="60960" anchor="b"/>
                    </a:tc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>
                              <a:effectLst/>
                            </a:rPr>
                            <a:t>Journal/Conference</a:t>
                          </a:r>
                        </a:p>
                      </a:txBody>
                      <a:tcPr marL="60960" marR="60960" marT="60960" marB="60960" anchor="b"/>
                    </a:tc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 dirty="0">
                              <a:effectLst/>
                            </a:rPr>
                            <a:t>Description</a:t>
                          </a:r>
                        </a:p>
                      </a:txBody>
                      <a:tcPr marL="60960" marR="60960" marT="60960" marB="60960" anchor="b"/>
                    </a:tc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 dirty="0">
                              <a:effectLst/>
                            </a:rPr>
                            <a:t>Insights</a:t>
                          </a:r>
                        </a:p>
                      </a:txBody>
                      <a:tcPr marL="60960" marR="60960" marT="60960" marB="60960" anchor="b"/>
                    </a:tc>
                    <a:tc>
                      <a:txBody>
                        <a:bodyPr/>
                        <a:lstStyle/>
                        <a:p>
                          <a:pPr algn="l" fontAlgn="b" latinLnBrk="0">
                            <a:buNone/>
                          </a:pPr>
                          <a:r>
                            <a:rPr lang="en-IN" sz="1100" b="1" i="0" dirty="0">
                              <a:effectLst/>
                            </a:rPr>
                            <a:t>Research Gaps/Comments</a:t>
                          </a:r>
                        </a:p>
                      </a:txBody>
                      <a:tcPr marL="60960" marR="60960" marT="60960" marB="60960" anchor="b"/>
                    </a:tc>
                    <a:extLst>
                      <a:ext uri="{0D108BD9-81ED-4DB2-BD59-A6C34878D82A}">
                        <a16:rowId xmlns:a16="http://schemas.microsoft.com/office/drawing/2014/main" val="1770980956"/>
                      </a:ext>
                    </a:extLst>
                  </a:tr>
                  <a:tr h="85344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000" b="1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  <a:endParaRPr lang="en-IN" sz="1000" b="0" i="0" dirty="0">
                            <a:solidFill>
                              <a:srgbClr val="10101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FIPS 203: ML-KEM &amp; FIPS 204: ML-DSA Standards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NIST Computer Security Division (2024)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NIST Federal Information Processing Standards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Finalized post-quantum standards: Module-Lattice Key Encapsulation (ML-KEM) and Digital Signatures (ML-DSA).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3882" t="-60000" r="-105176" b="-4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Pure algorithmic specification; excludes networking overhead, TCP MTU fragmentation, and banking SLA impacts.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2393717"/>
                      </a:ext>
                    </a:extLst>
                  </a:tr>
                  <a:tr h="85344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000" b="1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  <a:endParaRPr lang="en-IN" sz="1000" b="0" i="0">
                            <a:solidFill>
                              <a:srgbClr val="10101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Benchmarking Post-Quantum TLS 1.3 in High-Performance Environments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Paquin, Stebila, &amp; Tamvada (2023)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ACM Conference on Computer and Communications Security (CCS)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Evaluates end-to-end handshake overhead of lattice-based algorithms inside TLS 1.3 using Open Quantum Safe (</a:t>
                          </a:r>
                          <a:r>
                            <a:rPr lang="en-IN" sz="1000" b="0" i="0">
                              <a:solidFill>
                                <a:srgbClr val="A31515"/>
                              </a:solidFill>
                              <a:effectLst/>
                              <a:latin typeface="+mj-lt"/>
                            </a:rPr>
                            <a:t>liboqs</a:t>
                          </a: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).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Demonstrates that payload inflation dominates handshake time on networks with packet loss or latency jitter.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Focuses on raw lab metrics; does not model financial hardware scaling or enterprise API gateway logs.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8284863"/>
                      </a:ext>
                    </a:extLst>
                  </a:tr>
                  <a:tr h="85344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000" b="1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  <a:endParaRPr lang="en-IN" sz="1000" b="0" i="0">
                            <a:solidFill>
                              <a:srgbClr val="10101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Quantum Resource Estimation for Factoring RSA-2048 with Subquadratic Scheduling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Chevignard, Boyer, &amp; Pointcheval (2023)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IEEE Transactions on Quantum Engineering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Optimizes modular exponentiation and QFT circuits to factor 2048-bit integers using optimized surface codes.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Lowers physical qubit threshold beyond earlier estimates, pulling vulnerability timelines closer to the 2032–2034 horizon.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Theoretical physics focus; provides no translation mechanism for IT risk profilers or CISO roadmaps.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5293202"/>
                      </a:ext>
                    </a:extLst>
                  </a:tr>
                  <a:tr h="109072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Post-Quantum Authentication in TLS 1.3: A Performance Study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Sikeridis, Kampanakis, &amp; Devetsikiotis (2020)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IEEE </a:t>
                          </a:r>
                          <a:r>
                            <a:rPr lang="en-IN" sz="1000" b="0" i="0" dirty="0" err="1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NetSoft</a:t>
                          </a:r>
                          <a:endParaRPr lang="en-IN" sz="1000" b="0" i="0" dirty="0">
                            <a:solidFill>
                              <a:srgbClr val="10101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Explores packetization, TCP congestion windows, and packet loss when large PQC signatures exceed Ethernet MTU.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Identifies that multi-packet handshakes lead to TCP packet fragmentation, head-of-line blocking, and dropped calls.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Evaluates generic web endpoints; does not address banking settlement APIs (ISO 20022/SWIFT) or HSM core sizing.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41476526"/>
                      </a:ext>
                    </a:extLst>
                  </a:tr>
                  <a:tr h="109072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IN" sz="1000" b="1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  <a:endParaRPr lang="en-IN" sz="1000" b="0" i="0" dirty="0">
                            <a:solidFill>
                              <a:srgbClr val="10101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Cybersecurity in an Era with Quantum Computers: Will We Be Ready?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Mosca, M. (2018)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IEEE Security &amp; Privacy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4934" t="-381564" r="-286842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Establishes strategic planning imperative for enterprises holding long-lived confidential records and financial data.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>
                            <a:buNone/>
                          </a:pPr>
                          <a:r>
                            <a:rPr lang="en-IN" sz="1000" b="0" i="0" dirty="0">
                              <a:solidFill>
                                <a:srgbClr val="101010"/>
                              </a:solidFill>
                              <a:effectLst/>
                              <a:latin typeface="+mj-lt"/>
                            </a:rPr>
                            <a:t>High-level risk taxonomy; lacks an automated software implementation or quantitative latency-cost engine.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36263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37903-95EF-8CD2-FC46-A437CEFF0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A1465D7-94FF-1DC7-7AFE-2361B83C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63074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1E5B8-6B59-B488-1F64-5FFE0D3A0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Gap Analysis &amp; Literature Alignment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90B51B-BCC4-1EE4-F46C-5AE72B9A4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954A08-F531-4BFB-B155-FB6526D1B190}" type="datetime3">
              <a:rPr lang="en-US" smtClean="0"/>
              <a:t>6 September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41EDD-17DC-F7CD-31A0-6CF06F3D8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5F3A1-3CB7-C2DD-2941-1240EC3F6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DF550-39E2-1B47-E6B0-AFEDBBE5121F}"/>
              </a:ext>
            </a:extLst>
          </p:cNvPr>
          <p:cNvSpPr txBox="1"/>
          <p:nvPr/>
        </p:nvSpPr>
        <p:spPr>
          <a:xfrm>
            <a:off x="1331945" y="1319493"/>
            <a:ext cx="104367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IN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The academic literature heavily covers raw PQC performance, but the enterprise market lacks tools that contextualize this data for high-throughput environments like banks</a:t>
            </a:r>
          </a:p>
          <a:p>
            <a:pPr algn="just">
              <a:lnSpc>
                <a:spcPct val="100000"/>
              </a:lnSpc>
              <a:buNone/>
            </a:pPr>
            <a:endParaRPr lang="en-IN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The Bandwidth Gap:</a:t>
            </a:r>
            <a:r>
              <a:rPr lang="en-IN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RSA-2048 keys are 256 bytes. An </a:t>
            </a:r>
            <a:r>
              <a:rPr lang="en-IN" u="sng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ML-KEM-768</a:t>
            </a:r>
            <a:r>
              <a:rPr lang="en-IN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public key is roughly </a:t>
            </a:r>
            <a:r>
              <a:rPr lang="en-IN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1,184 bytes</a:t>
            </a:r>
            <a:r>
              <a:rPr lang="en-IN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 In a high-frequency banking API processing millions of requests per second, this </a:t>
            </a:r>
            <a:r>
              <a:rPr lang="en-IN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4x increase in key size</a:t>
            </a:r>
            <a:r>
              <a:rPr lang="en-IN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causes massive packet fragmentation and bandwidth inflation.</a:t>
            </a:r>
          </a:p>
          <a:p>
            <a:pPr marL="342900" lvl="0" indent="-342900" algn="just">
              <a:lnSpc>
                <a:spcPct val="1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The SLA Gap:</a:t>
            </a:r>
            <a:r>
              <a:rPr lang="en-IN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Core banking systems operate on strict Service Level Agreements (SLAs)—often requiring end-to-end transaction processing under 50ms. Your tool will calculate whether the CPU overhead of verifying an </a:t>
            </a:r>
            <a:r>
              <a:rPr lang="en-IN" u="sng" kern="100" dirty="0"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ML-DSA</a:t>
            </a:r>
            <a:r>
              <a:rPr lang="en-IN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signature will breach those critical SLAs.</a:t>
            </a:r>
          </a:p>
          <a:p>
            <a:pPr marL="342900" lvl="0" indent="-342900" algn="just">
              <a:lnSpc>
                <a:spcPct val="1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Shor's Optimization Variable:</a:t>
            </a:r>
            <a:r>
              <a:rPr lang="en-IN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Current market tools assume a linear timeline for Shor's algorithm. A tool can implement an adjustment matrix based on recent literature optimizations (e.g., Gidney-</a:t>
            </a:r>
            <a:r>
              <a:rPr lang="en-IN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Ekerå</a:t>
            </a:r>
            <a:r>
              <a:rPr lang="en-IN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IN" kern="10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Chevignard</a:t>
            </a:r>
            <a:r>
              <a:rPr lang="en-IN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variants), which lower the physical qubit threshold required to break RSA-2048, pulling risk timelines forward.</a:t>
            </a:r>
          </a:p>
        </p:txBody>
      </p:sp>
    </p:spTree>
    <p:extLst>
      <p:ext uri="{BB962C8B-B14F-4D97-AF65-F5344CB8AC3E}">
        <p14:creationId xmlns:p14="http://schemas.microsoft.com/office/powerpoint/2010/main" val="2511609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093FF-68FE-1A34-83ED-94CBF15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24355F-68A3-4706-9176-BEF76A3AECF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5C1CE5-FC18-6472-E8D0-FDE5A3D14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A32282-0253-0C86-D4DC-B461A5B7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6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E73F5-C6D0-0CD1-3727-9E8EEB7FCF54}"/>
                  </a:ext>
                </a:extLst>
              </p:cNvPr>
              <p:cNvSpPr txBox="1"/>
              <p:nvPr/>
            </p:nvSpPr>
            <p:spPr>
              <a:xfrm>
                <a:off x="716902" y="1225689"/>
                <a:ext cx="10758195" cy="5816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200" b="1" dirty="0"/>
                  <a:t>The Operational &amp; Financial </a:t>
                </a:r>
                <a:r>
                  <a:rPr lang="en-IN" sz="1200" b="1" dirty="0" err="1"/>
                  <a:t>Blindspots</a:t>
                </a:r>
                <a:r>
                  <a:rPr lang="en-IN" sz="1200" b="1" dirty="0"/>
                  <a:t> of PQC Migration</a:t>
                </a:r>
              </a:p>
              <a:p>
                <a:endParaRPr lang="en-IN" sz="1200" dirty="0"/>
              </a:p>
              <a:p>
                <a:r>
                  <a:rPr lang="en-IN" sz="1200" dirty="0"/>
                  <a:t>Current cryptographic migration frameworks are </a:t>
                </a:r>
                <a:r>
                  <a:rPr lang="en-IN" sz="1200" b="1" dirty="0"/>
                  <a:t>"crypto-blind" to runtime network physics and cloud financial realities</a:t>
                </a:r>
                <a:r>
                  <a:rPr lang="en-IN" sz="1200" dirty="0"/>
                  <a:t>. </a:t>
                </a:r>
              </a:p>
              <a:p>
                <a:r>
                  <a:rPr lang="en-IN" sz="1200" dirty="0"/>
                  <a:t>They inventory where RSA and ECC keys exist, but leave financial institutions blind to downstream architectural collapse:</a:t>
                </a:r>
              </a:p>
              <a:p>
                <a:r>
                  <a:rPr lang="en-IN" sz="1200" dirty="0"/>
                  <a:t>[Commercial Tools Today] ---&gt; "You have RSA-2048 at /v1/settlement/credit"  (Static Inventory)</a:t>
                </a:r>
              </a:p>
              <a:p>
                <a:r>
                  <a:rPr lang="en-IN" sz="1200" dirty="0"/>
                  <a:t>versus</a:t>
                </a:r>
              </a:p>
              <a:p>
                <a:r>
                  <a:rPr lang="en-IN" sz="1200" dirty="0"/>
                  <a:t>[The QARP Reality Gap]  ---&gt; </a:t>
                </a:r>
              </a:p>
              <a:p>
                <a:r>
                  <a:rPr lang="en-IN" sz="1200" dirty="0"/>
                  <a:t>                              1. Handshake splits into 4 TCP packets (MTU &gt; 1500 B)</a:t>
                </a:r>
              </a:p>
              <a:p>
                <a:r>
                  <a:rPr lang="en-IN" sz="1200" dirty="0"/>
                  <a:t>                              2. Handshake latency increases +4.4 </a:t>
                </a:r>
                <a:r>
                  <a:rPr lang="en-IN" sz="1200" dirty="0" err="1"/>
                  <a:t>ms</a:t>
                </a:r>
                <a:r>
                  <a:rPr lang="en-IN" sz="1200" dirty="0"/>
                  <a:t> -&gt; Breaches 50 </a:t>
                </a:r>
                <a:r>
                  <a:rPr lang="en-IN" sz="1200" dirty="0" err="1"/>
                  <a:t>ms</a:t>
                </a:r>
                <a:r>
                  <a:rPr lang="en-IN" sz="1200" dirty="0"/>
                  <a:t> SLA</a:t>
                </a:r>
              </a:p>
              <a:p>
                <a:r>
                  <a:rPr lang="en-IN" sz="1200" dirty="0"/>
                  <a:t>                              3. </a:t>
                </a:r>
                <a:r>
                  <a:rPr lang="en-IN" sz="1200" dirty="0" err="1"/>
                  <a:t>CloudHSM</a:t>
                </a:r>
                <a:r>
                  <a:rPr lang="en-IN" sz="1200" dirty="0"/>
                  <a:t> cluster must scale from 5 to 21 instances ($25,200/</a:t>
                </a:r>
                <a:r>
                  <a:rPr lang="en-IN" sz="1200" dirty="0" err="1"/>
                  <a:t>mo</a:t>
                </a:r>
                <a:r>
                  <a:rPr lang="en-IN" sz="1200" dirty="0"/>
                  <a:t>)</a:t>
                </a:r>
              </a:p>
              <a:p>
                <a:endParaRPr lang="en-IN" sz="1200" dirty="0"/>
              </a:p>
              <a:p>
                <a:r>
                  <a:rPr lang="en-IN" sz="1200" b="1" dirty="0"/>
                  <a:t>The Three Critical Engineering Gaps:</a:t>
                </a:r>
              </a:p>
              <a:p>
                <a:pPr lvl="0"/>
                <a:r>
                  <a:rPr lang="en-IN" sz="1200" b="1" dirty="0"/>
                  <a:t>The MTU Fragmentation Bottleneck:</a:t>
                </a:r>
                <a:endParaRPr lang="en-IN" sz="1200" dirty="0"/>
              </a:p>
              <a:p>
                <a:pPr lvl="1"/>
                <a:r>
                  <a:rPr lang="en-IN" sz="1200" dirty="0"/>
                  <a:t>Ethernet Maximum Transmission Unit (MTU) is bounded at </a:t>
                </a:r>
                <a:r>
                  <a:rPr lang="en-IN" sz="1200" b="1" dirty="0"/>
                  <a:t>1,500 bytes</a:t>
                </a:r>
                <a:r>
                  <a:rPr lang="en-IN" sz="1200" dirty="0"/>
                  <a:t>.</a:t>
                </a:r>
              </a:p>
              <a:p>
                <a:pPr lvl="1"/>
                <a:r>
                  <a:rPr lang="en-IN" sz="1200" dirty="0"/>
                  <a:t>Legacy handshakes (ECDSA-P256 = </a:t>
                </a:r>
                <a14:m>
                  <m:oMath xmlns:m="http://schemas.openxmlformats.org/officeDocument/2006/math">
                    <m:r>
                      <a:rPr lang="en-IN" sz="1200"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nor/>
                      </m:rPr>
                      <a:rPr lang="en-IN" sz="1200" i="0"/>
                      <m:t> B</m:t>
                    </m:r>
                  </m:oMath>
                </a14:m>
                <a:r>
                  <a:rPr lang="en-IN" sz="1200" dirty="0"/>
                  <a:t> key, </a:t>
                </a:r>
                <a14:m>
                  <m:oMath xmlns:m="http://schemas.openxmlformats.org/officeDocument/2006/math">
                    <m:r>
                      <a:rPr lang="en-IN" sz="1200"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nor/>
                      </m:rPr>
                      <a:rPr lang="en-IN" sz="1200" i="0"/>
                      <m:t> B</m:t>
                    </m:r>
                  </m:oMath>
                </a14:m>
                <a:r>
                  <a:rPr lang="en-IN" sz="1200" dirty="0"/>
                  <a:t> sig) fit easily within a single TCP packet (</a:t>
                </a:r>
                <a14:m>
                  <m:oMath xmlns:m="http://schemas.openxmlformats.org/officeDocument/2006/math">
                    <m:r>
                      <a:rPr lang="en-IN" sz="1200"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nor/>
                      </m:rPr>
                      <a:rPr lang="en-IN" sz="1200" i="0"/>
                      <m:t> B</m:t>
                    </m:r>
                    <m:r>
                      <a:rPr lang="en-IN" sz="1200">
                        <a:latin typeface="Cambria Math" panose="02040503050406030204" pitchFamily="18" charset="0"/>
                      </a:rPr>
                      <m:t>≪1,500</m:t>
                    </m:r>
                    <m:r>
                      <m:rPr>
                        <m:nor/>
                      </m:rPr>
                      <a:rPr lang="en-IN" sz="1200" i="0"/>
                      <m:t> B</m:t>
                    </m:r>
                  </m:oMath>
                </a14:m>
                <a:r>
                  <a:rPr lang="en-IN" sz="1200" dirty="0"/>
                  <a:t>).</a:t>
                </a:r>
              </a:p>
              <a:p>
                <a:pPr lvl="1"/>
                <a:r>
                  <a:rPr lang="en-IN" sz="1200" dirty="0"/>
                  <a:t>PQC migration (ML-KEM-768 + ML-DSA-65) inflates cryptographic payloads to </a:t>
                </a:r>
                <a14:m>
                  <m:oMath xmlns:m="http://schemas.openxmlformats.org/officeDocument/2006/math">
                    <m:r>
                      <a:rPr lang="en-IN" sz="1200">
                        <a:latin typeface="Cambria Math" panose="02040503050406030204" pitchFamily="18" charset="0"/>
                      </a:rPr>
                      <m:t>≈4,484</m:t>
                    </m:r>
                    <m:r>
                      <m:rPr>
                        <m:nor/>
                      </m:rPr>
                      <a:rPr lang="en-IN" sz="1200" i="0"/>
                      <m:t> bytes</m:t>
                    </m:r>
                  </m:oMath>
                </a14:m>
                <a:r>
                  <a:rPr lang="en-IN" sz="1200" dirty="0"/>
                  <a:t>.</a:t>
                </a:r>
              </a:p>
              <a:p>
                <a:pPr lvl="1"/>
                <a:r>
                  <a:rPr lang="en-IN" sz="1200" dirty="0"/>
                  <a:t>Handshakes fragment into </a:t>
                </a:r>
                <a:r>
                  <a:rPr lang="en-IN" sz="1200" b="1" dirty="0"/>
                  <a:t>3 to 4 TCP packets</a:t>
                </a:r>
                <a:r>
                  <a:rPr lang="en-IN" sz="1200" dirty="0"/>
                  <a:t>, inducing multiple Round-Trip Times (RTTs), packet reassembly delays, and head-of-line blocking.</a:t>
                </a:r>
              </a:p>
              <a:p>
                <a:pPr lvl="1"/>
                <a:endParaRPr lang="en-IN" sz="1200" dirty="0"/>
              </a:p>
              <a:p>
                <a:pPr lvl="0"/>
                <a:r>
                  <a:rPr lang="en-IN" sz="1200" b="1" dirty="0"/>
                  <a:t>The Banking SLA Breach Gap:</a:t>
                </a:r>
                <a:endParaRPr lang="en-IN" sz="1200" dirty="0"/>
              </a:p>
              <a:p>
                <a:pPr lvl="1"/>
                <a:r>
                  <a:rPr lang="en-IN" sz="1200" dirty="0"/>
                  <a:t>Core settlement endpoints (credit transfer, interbank clearing) enforce sub-</a:t>
                </a:r>
                <a14:m>
                  <m:oMath xmlns:m="http://schemas.openxmlformats.org/officeDocument/2006/math">
                    <m:r>
                      <a:rPr lang="en-IN" sz="1200"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nor/>
                      </m:rPr>
                      <a:rPr lang="en-IN" sz="1200" i="0"/>
                      <m:t> ms</m:t>
                    </m:r>
                  </m:oMath>
                </a14:m>
                <a:r>
                  <a:rPr lang="en-IN" sz="1200" dirty="0"/>
                  <a:t> processing SLAs.</a:t>
                </a:r>
              </a:p>
              <a:p>
                <a:pPr lvl="1"/>
                <a:r>
                  <a:rPr lang="en-IN" sz="1200" dirty="0"/>
                  <a:t>Lattice verification CPU overhead coupled with multi-packet reassembly latency pushes peak response times beyond SLA limits, causing connection drops and transaction rollbacks.</a:t>
                </a:r>
              </a:p>
              <a:p>
                <a:pPr lvl="1"/>
                <a:endParaRPr lang="en-IN" sz="1200" dirty="0"/>
              </a:p>
              <a:p>
                <a:pPr lvl="0"/>
                <a:r>
                  <a:rPr lang="en-IN" sz="1200" b="1" dirty="0"/>
                  <a:t>The Hardware &amp; Financial Scaling Blindspot:</a:t>
                </a:r>
                <a:endParaRPr lang="en-IN" sz="1200" dirty="0"/>
              </a:p>
              <a:p>
                <a:pPr lvl="1"/>
                <a:r>
                  <a:rPr lang="en-IN" sz="1200" dirty="0"/>
                  <a:t>Generic cloud cost calculators (e.g., AWS Pricing Calculator) assume linear throughput per vCPU/HSM core.</a:t>
                </a:r>
              </a:p>
              <a:p>
                <a:pPr lvl="1"/>
                <a:r>
                  <a:rPr lang="en-IN" sz="1200" dirty="0"/>
                  <a:t>Running lattice-based polynomial arithmetic on HSMs drops operations from </a:t>
                </a:r>
                <a14:m>
                  <m:oMath xmlns:m="http://schemas.openxmlformats.org/officeDocument/2006/math">
                    <m:r>
                      <a:rPr lang="en-IN" sz="1200">
                        <a:latin typeface="Cambria Math" panose="02040503050406030204" pitchFamily="18" charset="0"/>
                      </a:rPr>
                      <m:t>≈1,200</m:t>
                    </m:r>
                    <m:r>
                      <m:rPr>
                        <m:nor/>
                      </m:rPr>
                      <a:rPr lang="en-IN" sz="1200" i="0"/>
                      <m:t> ops/sec</m:t>
                    </m:r>
                  </m:oMath>
                </a14:m>
                <a:r>
                  <a:rPr lang="en-IN" sz="1200" dirty="0"/>
                  <a:t> to </a:t>
                </a:r>
                <a14:m>
                  <m:oMath xmlns:m="http://schemas.openxmlformats.org/officeDocument/2006/math">
                    <m:r>
                      <a:rPr lang="en-IN" sz="1200">
                        <a:latin typeface="Cambria Math" panose="02040503050406030204" pitchFamily="18" charset="0"/>
                      </a:rPr>
                      <m:t>≈180</m:t>
                    </m:r>
                    <m:r>
                      <m:rPr>
                        <m:nor/>
                      </m:rPr>
                      <a:rPr lang="en-IN" sz="1200" i="0"/>
                      <m:t> ops/sec</m:t>
                    </m:r>
                  </m:oMath>
                </a14:m>
                <a:r>
                  <a:rPr lang="en-IN" sz="1200" dirty="0"/>
                  <a:t>, requiring an immediate </a:t>
                </a:r>
                <a14:m>
                  <m:oMath xmlns:m="http://schemas.openxmlformats.org/officeDocument/2006/math">
                    <m:r>
                      <a:rPr lang="en-IN" sz="1200">
                        <a:latin typeface="Cambria Math" panose="02040503050406030204" pitchFamily="18" charset="0"/>
                      </a:rPr>
                      <m:t>3×</m:t>
                    </m:r>
                    <m:r>
                      <m:rPr>
                        <m:nor/>
                      </m:rPr>
                      <a:rPr lang="en-IN" sz="1200" i="0"/>
                      <m:t> to </m:t>
                    </m:r>
                    <m:r>
                      <a:rPr lang="en-IN" sz="1200">
                        <a:latin typeface="Cambria Math" panose="02040503050406030204" pitchFamily="18" charset="0"/>
                      </a:rPr>
                      <m:t>5×</m:t>
                    </m:r>
                  </m:oMath>
                </a14:m>
                <a:r>
                  <a:rPr lang="en-IN" sz="1200" b="1" dirty="0"/>
                  <a:t> hardware cluster expansion</a:t>
                </a:r>
                <a:r>
                  <a:rPr lang="en-IN" sz="1200" dirty="0"/>
                  <a:t>.</a:t>
                </a:r>
              </a:p>
              <a:p>
                <a:br>
                  <a:rPr lang="en-IN" sz="1200" dirty="0"/>
                </a:br>
                <a:endParaRPr lang="en-US" sz="1200" dirty="0"/>
              </a:p>
              <a:p>
                <a:endParaRPr lang="en-US" sz="1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E73F5-C6D0-0CD1-3727-9E8EEB7FC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02" y="1225689"/>
                <a:ext cx="10758195" cy="5816977"/>
              </a:xfrm>
              <a:prstGeom prst="rect">
                <a:avLst/>
              </a:prstGeom>
              <a:blipFill>
                <a:blip r:embed="rId2"/>
                <a:stretch>
                  <a:fillRect l="-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2159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EC98-9F5D-57A1-359A-44EAEF3B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1F721-B5F5-098C-8F83-02B74829F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998867-FC48-43F7-B725-2634657F46D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7AF53-6640-9841-D930-5DC78170D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4B88E2-1C07-A91D-9717-6A06119A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8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43AA69-F5FC-C417-3B29-E311547271C7}"/>
                  </a:ext>
                </a:extLst>
              </p:cNvPr>
              <p:cNvSpPr txBox="1"/>
              <p:nvPr/>
            </p:nvSpPr>
            <p:spPr>
              <a:xfrm>
                <a:off x="1117341" y="1122876"/>
                <a:ext cx="10820183" cy="483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latin typeface="+mj-lt"/>
                  </a:rPr>
                  <a:t>Project Objectives</a:t>
                </a:r>
              </a:p>
              <a:p>
                <a:pPr algn="l">
                  <a:buNone/>
                </a:pPr>
                <a:endParaRPr lang="en-US" sz="1400" b="0" i="0" dirty="0">
                  <a:effectLst/>
                  <a:latin typeface="+mj-lt"/>
                </a:endParaRPr>
              </a:p>
              <a:p>
                <a:pPr lvl="0"/>
                <a:r>
                  <a:rPr lang="en-IN" sz="1400" b="1" dirty="0">
                    <a:latin typeface="+mj-lt"/>
                  </a:rPr>
                  <a:t>Objective 1: Automated Cryptographic Log Ingestion &amp; Protocol Parsing</a:t>
                </a:r>
                <a:endParaRPr lang="en-IN" sz="1400" dirty="0">
                  <a:latin typeface="+mj-lt"/>
                </a:endParaRPr>
              </a:p>
              <a:p>
                <a:pPr lvl="1"/>
                <a:r>
                  <a:rPr lang="en-IN" sz="1400" dirty="0">
                    <a:latin typeface="+mj-lt"/>
                  </a:rPr>
                  <a:t>Develop a streaming parser capable of ingesting raw production JSON/REST gateway logs and network traces (ISO 20022 payment schemas, TLS 1.3 metadata) to extract endpoint TPS, payload sizes, and existing cipher suites.</a:t>
                </a:r>
              </a:p>
              <a:p>
                <a:pPr lvl="1"/>
                <a:endParaRPr lang="en-IN" sz="1400" dirty="0">
                  <a:latin typeface="+mj-lt"/>
                </a:endParaRPr>
              </a:p>
              <a:p>
                <a:pPr lvl="0"/>
                <a:r>
                  <a:rPr lang="en-IN" sz="1400" b="1" dirty="0">
                    <a:latin typeface="+mj-lt"/>
                  </a:rPr>
                  <a:t>Objective 2: Dynamic Algorithmic Risk Modelling (Shor &amp; Grover Triage)</a:t>
                </a:r>
                <a:endParaRPr lang="en-IN" sz="1400" dirty="0">
                  <a:latin typeface="+mj-lt"/>
                </a:endParaRPr>
              </a:p>
              <a:p>
                <a:pPr lvl="1"/>
                <a:r>
                  <a:rPr lang="en-IN" sz="1400" dirty="0">
                    <a:latin typeface="+mj-lt"/>
                  </a:rPr>
                  <a:t>Replace static linear timelines with the </a:t>
                </a:r>
                <a:r>
                  <a:rPr lang="en-IN" sz="1400" b="1" dirty="0">
                    <a:latin typeface="+mj-lt"/>
                  </a:rPr>
                  <a:t>Gidney-</a:t>
                </a:r>
                <a:r>
                  <a:rPr lang="en-IN" sz="1400" b="1" dirty="0" err="1">
                    <a:latin typeface="+mj-lt"/>
                  </a:rPr>
                  <a:t>Ekerå</a:t>
                </a:r>
                <a:r>
                  <a:rPr lang="en-IN" sz="1400" b="1" dirty="0">
                    <a:latin typeface="+mj-lt"/>
                  </a:rPr>
                  <a:t> (2021) quantum cryptanalysis model</a:t>
                </a:r>
                <a:r>
                  <a:rPr lang="en-IN" sz="1400" dirty="0">
                    <a:latin typeface="+mj-lt"/>
                  </a:rPr>
                  <a:t>, dynamically calculating logical/physical qubit requirements to predict the exact compromise runway for RSA/ECC keys.</a:t>
                </a:r>
              </a:p>
              <a:p>
                <a:pPr lvl="1"/>
                <a:r>
                  <a:rPr lang="en-IN" sz="1400" dirty="0">
                    <a:latin typeface="+mj-lt"/>
                  </a:rPr>
                  <a:t>Implement automated symmetric triage: identify deprecated AES-128 implementations (cut to 64-bit strength via Grover’s algorithm) and enforce AES-256 compliance.</a:t>
                </a:r>
              </a:p>
              <a:p>
                <a:pPr lvl="1"/>
                <a:endParaRPr lang="en-IN" sz="1400" dirty="0">
                  <a:latin typeface="+mj-lt"/>
                </a:endParaRPr>
              </a:p>
              <a:p>
                <a:pPr lvl="0"/>
                <a:r>
                  <a:rPr lang="en-IN" sz="1400" b="1" dirty="0">
                    <a:latin typeface="+mj-lt"/>
                  </a:rPr>
                  <a:t>Objective 3: Network Physics &amp; SLA Latency Simulation</a:t>
                </a:r>
                <a:endParaRPr lang="en-IN" sz="1400" dirty="0">
                  <a:latin typeface="+mj-lt"/>
                </a:endParaRPr>
              </a:p>
              <a:p>
                <a:pPr lvl="1"/>
                <a:r>
                  <a:rPr lang="en-IN" sz="1400" dirty="0">
                    <a:latin typeface="+mj-lt"/>
                  </a:rPr>
                  <a:t>Model Ethernet MTU fragmentation thresholds (</a:t>
                </a:r>
                <a14:m>
                  <m:oMath xmlns:m="http://schemas.openxmlformats.org/officeDocument/2006/math">
                    <m:r>
                      <a:rPr lang="en-IN" sz="1400">
                        <a:latin typeface="Cambria Math" panose="02040503050406030204" pitchFamily="18" charset="0"/>
                      </a:rPr>
                      <m:t>1,500</m:t>
                    </m:r>
                    <m:r>
                      <m:rPr>
                        <m:nor/>
                      </m:rPr>
                      <a:rPr lang="en-IN" sz="1400" i="0">
                        <a:latin typeface="+mj-lt"/>
                      </a:rPr>
                      <m:t> B</m:t>
                    </m:r>
                  </m:oMath>
                </a14:m>
                <a:r>
                  <a:rPr lang="en-IN" sz="1400" dirty="0">
                    <a:latin typeface="+mj-lt"/>
                  </a:rPr>
                  <a:t>) across target PQC pairs (NIST FIPS 203 ML-KEM and FIPS 204 ML-DSA).</a:t>
                </a:r>
              </a:p>
              <a:p>
                <a:pPr lvl="1"/>
                <a:r>
                  <a:rPr lang="en-IN" sz="1400" dirty="0">
                    <a:latin typeface="+mj-lt"/>
                  </a:rPr>
                  <a:t>Quantify handshake latency overhead and flag endpoints breaching critical banking transaction SLAs (</a:t>
                </a:r>
                <a14:m>
                  <m:oMath xmlns:m="http://schemas.openxmlformats.org/officeDocument/2006/math">
                    <m:r>
                      <a:rPr lang="en-IN" sz="1400">
                        <a:latin typeface="Cambria Math" panose="02040503050406030204" pitchFamily="18" charset="0"/>
                      </a:rPr>
                      <m:t>&lt;50</m:t>
                    </m:r>
                    <m:r>
                      <m:rPr>
                        <m:nor/>
                      </m:rPr>
                      <a:rPr lang="en-IN" sz="1400" i="0">
                        <a:latin typeface="+mj-lt"/>
                      </a:rPr>
                      <m:t> ms</m:t>
                    </m:r>
                  </m:oMath>
                </a14:m>
                <a:r>
                  <a:rPr lang="en-IN" sz="1400" dirty="0">
                    <a:latin typeface="+mj-lt"/>
                  </a:rPr>
                  <a:t>).</a:t>
                </a:r>
              </a:p>
              <a:p>
                <a:pPr lvl="1"/>
                <a:endParaRPr lang="en-IN" sz="1400" dirty="0">
                  <a:latin typeface="+mj-lt"/>
                </a:endParaRPr>
              </a:p>
              <a:p>
                <a:pPr lvl="0"/>
                <a:r>
                  <a:rPr lang="en-IN" sz="1400" b="1" dirty="0">
                    <a:latin typeface="+mj-lt"/>
                  </a:rPr>
                  <a:t>Objective 4: Financial Hardware Sizing &amp; Executive Dashboard Delivery</a:t>
                </a:r>
                <a:endParaRPr lang="en-IN" sz="1400" dirty="0">
                  <a:latin typeface="+mj-lt"/>
                </a:endParaRPr>
              </a:p>
              <a:p>
                <a:pPr lvl="1"/>
                <a:r>
                  <a:rPr lang="en-IN" sz="1400" dirty="0">
                    <a:latin typeface="+mj-lt"/>
                  </a:rPr>
                  <a:t>Develop an infrastructure financial model that translates cryptographic ops/sec degradation into infra provisioning and monthly egress cost deltas.</a:t>
                </a:r>
              </a:p>
              <a:p>
                <a:pPr lvl="1"/>
                <a:r>
                  <a:rPr lang="en-IN" sz="1400" dirty="0">
                    <a:latin typeface="+mj-lt"/>
                  </a:rPr>
                  <a:t>Deliver an open-source, interactive </a:t>
                </a:r>
                <a:r>
                  <a:rPr lang="en-IN" sz="1400" dirty="0" err="1">
                    <a:latin typeface="+mj-lt"/>
                  </a:rPr>
                  <a:t>Streamlit</a:t>
                </a:r>
                <a:r>
                  <a:rPr lang="en-IN" sz="1400" dirty="0">
                    <a:latin typeface="+mj-lt"/>
                  </a:rPr>
                  <a:t> executive dashboard for CISOs and lead cryptographers.</a:t>
                </a:r>
              </a:p>
              <a:p>
                <a:pPr algn="l">
                  <a:buNone/>
                </a:pPr>
                <a:endParaRPr lang="en-US" sz="1400" b="0" i="0" dirty="0">
                  <a:effectLst/>
                  <a:latin typeface="+mj-lt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43AA69-F5FC-C417-3B29-E31154727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341" y="1122876"/>
                <a:ext cx="10820183" cy="4832092"/>
              </a:xfrm>
              <a:prstGeom prst="rect">
                <a:avLst/>
              </a:prstGeom>
              <a:blipFill>
                <a:blip r:embed="rId2"/>
                <a:stretch>
                  <a:fillRect l="-169" t="-252" r="-1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351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B3B6-2272-EB4F-D29B-38484C998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Project Methodology</a:t>
            </a:r>
            <a:br>
              <a:rPr lang="en-IN" dirty="0"/>
            </a:b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1F080F-0C30-391C-4302-F4BC148BB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954A08-F531-4BFB-B155-FB6526D1B190}" type="datetime3">
              <a:rPr lang="en-US" smtClean="0"/>
              <a:t>6 September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3C485-E571-BCAF-D1E2-27F43911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8C53F-C5A7-D635-1ECD-3BE70FF62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623A3F-81E2-2DDD-A067-01C70806066A}"/>
              </a:ext>
            </a:extLst>
          </p:cNvPr>
          <p:cNvSpPr txBox="1"/>
          <p:nvPr/>
        </p:nvSpPr>
        <p:spPr>
          <a:xfrm>
            <a:off x="581621" y="1427623"/>
            <a:ext cx="11234057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Phase 1 (Ingestion &amp; Triage):</a:t>
            </a:r>
            <a:r>
              <a:rPr lang="en-IN" dirty="0"/>
              <a:t> Parses local banking gateway logs and ISO 20022 schemas to extract active ciphers, TPS, and identify Shor/Grover vulnerabilities.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Phase 2 (Empirical Benchmarking):</a:t>
            </a:r>
            <a:r>
              <a:rPr lang="en-IN" dirty="0"/>
              <a:t> Executes NIST PQC algorithms (ML-KEM, ML-DSA) locally on the host CPU using </a:t>
            </a:r>
            <a:r>
              <a:rPr lang="en-IN" dirty="0" err="1"/>
              <a:t>liboqs</a:t>
            </a:r>
            <a:r>
              <a:rPr lang="en-IN" dirty="0"/>
              <a:t>-python to measure real runtime latency and key sizes.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Phase 3 (Network &amp; SLA Simulation):</a:t>
            </a:r>
            <a:r>
              <a:rPr lang="en-IN" dirty="0"/>
              <a:t> Models Ethernet 1,500-byte MTU packet fragmentation and flags transaction endpoints that breach the bank’s strict 50ms SLA.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Phase 4 (Sizing &amp; Dashboard):</a:t>
            </a:r>
            <a:r>
              <a:rPr lang="en-IN" dirty="0"/>
              <a:t> Applies Gidney-</a:t>
            </a:r>
            <a:r>
              <a:rPr lang="en-IN" dirty="0" err="1"/>
              <a:t>Ekerå</a:t>
            </a:r>
            <a:r>
              <a:rPr lang="en-IN" dirty="0"/>
              <a:t> quantum risk formulas, calculates local CPU hardware scaling, and renders an interactive </a:t>
            </a:r>
            <a:r>
              <a:rPr lang="en-IN" dirty="0" err="1"/>
              <a:t>Streamlit</a:t>
            </a:r>
            <a:r>
              <a:rPr lang="en-IN" dirty="0"/>
              <a:t> dashboard.</a:t>
            </a:r>
          </a:p>
          <a:p>
            <a:pPr marL="0" marR="0" indent="0" algn="l">
              <a:buNone/>
            </a:pPr>
            <a:endParaRPr lang="en-IN" sz="1400" b="0" i="0" dirty="0">
              <a:solidFill>
                <a:srgbClr val="101010"/>
              </a:solidFill>
              <a:effectLst/>
              <a:latin typeface="ui-monospace"/>
            </a:endParaRPr>
          </a:p>
        </p:txBody>
      </p:sp>
    </p:spTree>
    <p:extLst>
      <p:ext uri="{BB962C8B-B14F-4D97-AF65-F5344CB8AC3E}">
        <p14:creationId xmlns:p14="http://schemas.microsoft.com/office/powerpoint/2010/main" val="4278569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D61C-9149-7841-9E1C-0BE23AD1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Methodology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E9969-5441-4A4F-A8A1-7FA2593ED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954A08-F531-4BFB-B155-FB6526D1B190}" type="datetime3">
              <a:rPr lang="en-US" smtClean="0"/>
              <a:t>6 September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736BC-3390-6E9C-3521-CA698E20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014E7-F4A1-D044-0193-B9A05E066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55506C-3675-E922-9851-FF2FE8E3F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31" y="1485731"/>
            <a:ext cx="9198137" cy="388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92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CD279-F8AB-A908-F59C-A7316A84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5C032-082C-99B1-C144-B03A7E1CB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954A08-F531-4BFB-B155-FB6526D1B190}" type="datetime3">
              <a:rPr lang="en-US" smtClean="0"/>
              <a:t>6 September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9DD6A-E75F-DAE4-797B-49E86F20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7D876-3508-A30D-E947-D43F7AC0A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8A083-014E-DEB6-6978-AD617BF8B465}"/>
              </a:ext>
            </a:extLst>
          </p:cNvPr>
          <p:cNvSpPr txBox="1"/>
          <p:nvPr/>
        </p:nvSpPr>
        <p:spPr>
          <a:xfrm>
            <a:off x="789647" y="1232728"/>
            <a:ext cx="1097901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My project </a:t>
            </a:r>
            <a:r>
              <a:rPr lang="en-IN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bridges a critical gap in the current market. While existing commercial tools excel at telling an organization </a:t>
            </a:r>
            <a:r>
              <a:rPr lang="en-IN" sz="11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n-IN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legacy crypto (RSA, ECC, AES) lives, they fail to tell banks </a:t>
            </a:r>
            <a:r>
              <a:rPr lang="en-IN" sz="11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will break operationally and financially when they migrate to Post-Quantum Cryptography (PQC)</a:t>
            </a:r>
            <a:r>
              <a:rPr lang="en-IN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By </a:t>
            </a:r>
            <a:r>
              <a:rPr lang="en-IN" sz="11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centering</a:t>
            </a:r>
            <a:r>
              <a:rPr lang="en-IN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my project on the strict transaction latency requirements and high volumes inherent to the banking sector, my project abstract</a:t>
            </a:r>
            <a:r>
              <a:rPr lang="en-IN" sz="1100" dirty="0"/>
              <a:t>s</a:t>
            </a:r>
            <a:r>
              <a:rPr lang="en-IN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cryptography problem into a highly practical engineering tool which can be used by CISO as an Interactive Dashboard for monitoring Post Quantum Cryptographic Threats, Risks and what needs to be done for mitigation.</a:t>
            </a:r>
          </a:p>
          <a:p>
            <a:endParaRPr lang="en-IN" sz="1100" dirty="0"/>
          </a:p>
          <a:p>
            <a:endParaRPr lang="en-IN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E3BB9F-9A3E-D5A1-8F5B-F0742A912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431" y="2047762"/>
            <a:ext cx="7972579" cy="408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700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EE47C-2514-A3E7-CBAC-F381ED5E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E9F6-CFD7-98AB-B1BF-191E551E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404" y="201480"/>
            <a:ext cx="8382000" cy="670055"/>
          </a:xfrm>
        </p:spPr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Detaile</a:t>
            </a:r>
            <a:r>
              <a:rPr lang="en-US" dirty="0">
                <a:cs typeface="Arial" panose="020B0604020202020204" pitchFamily="34" charset="0"/>
              </a:rPr>
              <a:t>d Scope of Work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6C5D2-20E4-FD1B-9E32-F16309A1E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E65501-01B6-4480-B71B-6C4C2316D7B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FE3E0-6484-F77F-9D83-FB83EF8C8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72C6BBF-F4E2-2918-0671-3ECCE5557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1</a:t>
            </a:r>
            <a:r>
              <a:rPr lang="en-US" dirty="0">
                <a:latin typeface="Roboto Slab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A4C9A-B3FF-1A1F-59F1-91EAA74B0510}"/>
              </a:ext>
            </a:extLst>
          </p:cNvPr>
          <p:cNvSpPr txBox="1"/>
          <p:nvPr/>
        </p:nvSpPr>
        <p:spPr>
          <a:xfrm>
            <a:off x="833527" y="1250395"/>
            <a:ext cx="1049270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000" dirty="0"/>
          </a:p>
          <a:p>
            <a:endParaRPr lang="en-IN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7F850-C949-8856-1380-FC99B5AFAAF5}"/>
              </a:ext>
            </a:extLst>
          </p:cNvPr>
          <p:cNvSpPr txBox="1"/>
          <p:nvPr/>
        </p:nvSpPr>
        <p:spPr>
          <a:xfrm>
            <a:off x="833527" y="1250395"/>
            <a:ext cx="104927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000" dirty="0"/>
          </a:p>
          <a:p>
            <a:endParaRPr lang="en-IN" sz="1500" dirty="0"/>
          </a:p>
          <a:p>
            <a:endParaRPr lang="en-IN" sz="15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DE7F55-517E-89FA-C39A-C6A497548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016048"/>
              </p:ext>
            </p:extLst>
          </p:nvPr>
        </p:nvGraphicFramePr>
        <p:xfrm>
          <a:off x="1042113" y="871535"/>
          <a:ext cx="10492705" cy="5567661"/>
        </p:xfrm>
        <a:graphic>
          <a:graphicData uri="http://schemas.openxmlformats.org/drawingml/2006/table">
            <a:tbl>
              <a:tblPr/>
              <a:tblGrid>
                <a:gridCol w="10492705">
                  <a:extLst>
                    <a:ext uri="{9D8B030D-6E8A-4147-A177-3AD203B41FA5}">
                      <a16:colId xmlns:a16="http://schemas.microsoft.com/office/drawing/2014/main" val="4064564088"/>
                    </a:ext>
                  </a:extLst>
                </a:gridCol>
              </a:tblGrid>
              <a:tr h="5224114">
                <a:tc>
                  <a:txBody>
                    <a:bodyPr/>
                    <a:lstStyle/>
                    <a:p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will develop an open-source, Python-based evaluation add-on that models the 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operational overhead, bandwidth inflation, and financial cost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swapping out RSA/ECC for NIST-approved PQC standards like 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ML-KEM (Kyber)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ML-DSA (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Dilithium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across critical banking protocols (such as SWIFT, ISO 20022, and API-driven TLS handshakes).</a:t>
                      </a:r>
                    </a:p>
                    <a:p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Banking Protocol Parser: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module that scans standard banking traffic data (like mock ISO 20022 payment schemas or TLS network traces) to pinpoint exactly where asymmetric crypto secures transactions.</a:t>
                      </a:r>
                    </a:p>
                    <a:p>
                      <a:pPr lvl="0"/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PQC SLA Simulator: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This component applies real-world PQC benchmark constraints to the parsed architecture. If a bank uses an AES-128 key wrapper, it highlights the need to shift to AES-256 to remain Grover-resistant. If it finds RSA, it models the network latency penalty of shifting to ML-KEM.</a:t>
                      </a:r>
                    </a:p>
                    <a:p>
                      <a:pPr lvl="0"/>
                      <a:endParaRPr lang="en-I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Financial Sizing Engine: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It maps the simulated CPU and network inflation to infrastructure costs, estimating how much more compute or processing resources capacity the bank must procure to maintain current transaction volumes.</a:t>
                      </a:r>
                    </a:p>
                    <a:p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108100"/>
                  </a:ext>
                </a:extLst>
              </a:tr>
              <a:tr h="264141">
                <a:tc>
                  <a:txBody>
                    <a:bodyPr/>
                    <a:lstStyle/>
                    <a:p>
                      <a:endParaRPr lang="en-IN" sz="11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6766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532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48D1-F57F-4856-A08A-5D67181F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References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F20FC-BC77-F5DE-DCB7-5A6A844B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E65501-01B6-4480-B71B-6C4C2316D7B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78A14-3843-A020-E304-56CB33747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49C78A-61BA-3328-5807-3CC71FFE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1</a:t>
            </a:r>
            <a:r>
              <a:rPr lang="en-US" dirty="0">
                <a:latin typeface="Roboto Slab"/>
              </a:rPr>
              <a:t>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6020E-12FB-6CB7-FCA7-B178CE4B0D78}"/>
              </a:ext>
            </a:extLst>
          </p:cNvPr>
          <p:cNvSpPr txBox="1"/>
          <p:nvPr/>
        </p:nvSpPr>
        <p:spPr>
          <a:xfrm>
            <a:off x="1122775" y="1049868"/>
            <a:ext cx="10717771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000" dirty="0"/>
          </a:p>
          <a:p>
            <a:pPr lvl="0"/>
            <a:r>
              <a:rPr lang="en-IN" b="1" dirty="0"/>
              <a:t>Mastercard</a:t>
            </a:r>
            <a:r>
              <a:rPr lang="en-IN" dirty="0"/>
              <a:t>, “Migration to post‑quantum cryptography,” </a:t>
            </a:r>
            <a:r>
              <a:rPr lang="en-IN" i="1" dirty="0"/>
              <a:t>Mastercard Whitepaper</a:t>
            </a:r>
            <a:r>
              <a:rPr lang="en-IN" dirty="0"/>
              <a:t>, 2025.</a:t>
            </a:r>
            <a:br>
              <a:rPr lang="en-IN" dirty="0"/>
            </a:br>
            <a:r>
              <a:rPr lang="en-IN" dirty="0"/>
              <a:t>Available: </a:t>
            </a:r>
            <a:r>
              <a:rPr lang="en-IN" dirty="0">
                <a:hlinkClick r:id="rId2"/>
              </a:rPr>
              <a:t>https://www.mastercard.com/content/dam/mccom/shared/news-and-trends/stories/2025/quantum-explainer-and-white-paper/Migration-to-post-quantum</a:t>
            </a:r>
            <a:r>
              <a:rPr lang="en-IN" dirty="0"/>
              <a:t>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F5 Labs</a:t>
            </a:r>
            <a:r>
              <a:rPr lang="en-IN" dirty="0"/>
              <a:t>, “The state of post‑quantum cryptography on the web,” </a:t>
            </a:r>
            <a:r>
              <a:rPr lang="en-IN" i="1" dirty="0"/>
              <a:t>F5 Labs Research Report</a:t>
            </a:r>
            <a:r>
              <a:rPr lang="en-IN" dirty="0"/>
              <a:t>, 2023.</a:t>
            </a:r>
            <a:br>
              <a:rPr lang="en-IN" dirty="0"/>
            </a:br>
            <a:r>
              <a:rPr lang="en-IN" dirty="0"/>
              <a:t>Available: </a:t>
            </a:r>
            <a:r>
              <a:rPr lang="en-IN" dirty="0">
                <a:hlinkClick r:id="rId3"/>
              </a:rPr>
              <a:t>https://www.f5.com/labs/articles/the-state-of-pqc-on-the-web</a:t>
            </a:r>
            <a:r>
              <a:rPr lang="en-IN" dirty="0"/>
              <a:t> </a:t>
            </a:r>
          </a:p>
          <a:p>
            <a:pPr lvl="0"/>
            <a:endParaRPr lang="en-IN" dirty="0"/>
          </a:p>
          <a:p>
            <a:pPr lvl="0"/>
            <a:r>
              <a:rPr lang="en-IN" b="1" dirty="0" err="1"/>
              <a:t>Utimaco</a:t>
            </a:r>
            <a:r>
              <a:rPr lang="en-IN" b="1" dirty="0"/>
              <a:t> and National Institute of Standards and Technology (NIST)</a:t>
            </a:r>
            <a:r>
              <a:rPr lang="en-IN" dirty="0"/>
              <a:t>, “Post‑quantum protocols for banking applications,” in </a:t>
            </a:r>
            <a:r>
              <a:rPr lang="en-IN" i="1" dirty="0"/>
              <a:t>Proc. Fourth Post‑Quantum Cryptography Standardization Conf.</a:t>
            </a:r>
            <a:r>
              <a:rPr lang="en-IN" dirty="0"/>
              <a:t>, 2022.</a:t>
            </a:r>
            <a:br>
              <a:rPr lang="en-IN" dirty="0"/>
            </a:br>
            <a:r>
              <a:rPr lang="en-IN" dirty="0"/>
              <a:t>Available: </a:t>
            </a:r>
            <a:r>
              <a:rPr lang="en-IN" dirty="0">
                <a:hlinkClick r:id="rId4"/>
              </a:rPr>
              <a:t>https://csrc.nist.gov/csrc/media/Events/2022/fourth-pqc-standardization-conference/documents/papers/post-quantum-protocols-for-banking-applications.pdf</a:t>
            </a:r>
            <a:r>
              <a:rPr lang="en-IN" dirty="0"/>
              <a:t>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International Journal of Scientific Research in Modern Technology (IJRSRMT)</a:t>
            </a:r>
            <a:r>
              <a:rPr lang="en-IN" dirty="0"/>
              <a:t>, “Research article,” </a:t>
            </a:r>
            <a:r>
              <a:rPr lang="en-IN" i="1" dirty="0"/>
              <a:t>Int. J. Sci. Res. Mod. Technol.</a:t>
            </a:r>
            <a:r>
              <a:rPr lang="en-IN" dirty="0"/>
              <a:t>, 2023.</a:t>
            </a:r>
            <a:br>
              <a:rPr lang="en-IN" dirty="0"/>
            </a:br>
            <a:r>
              <a:rPr lang="en-IN" dirty="0"/>
              <a:t>Available: </a:t>
            </a:r>
            <a:r>
              <a:rPr lang="en-IN" dirty="0">
                <a:hlinkClick r:id="rId5"/>
              </a:rPr>
              <a:t>https://ijsrmt.com/index.php/ijsrmt/article/download/594/177/3694</a:t>
            </a:r>
            <a:r>
              <a:rPr lang="en-IN" dirty="0"/>
              <a:t> </a:t>
            </a:r>
            <a:endParaRPr lang="en-IN" sz="4400" b="0" i="0" u="none" strike="noStrike" dirty="0">
              <a:effectLst/>
              <a:latin typeface="Arial" panose="020B0604020202020204" pitchFamily="34" charset="0"/>
            </a:endParaRPr>
          </a:p>
          <a:p>
            <a:pPr fontAlgn="ctr"/>
            <a:endParaRPr lang="en-IN" sz="44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sz="1500" dirty="0"/>
          </a:p>
          <a:p>
            <a:endParaRPr lang="en-IN" sz="1500" dirty="0"/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132745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42A06-313C-BF60-3A10-5512B813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70F6-7A15-310C-7ABF-E5C20EADC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Acronyms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AB8E4-100E-0C76-CAE7-B3052453A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E65501-01B6-4480-B71B-6C4C2316D7B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6 September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A5572-75AB-28BA-CC71-300D34B66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AA92C6D-39F8-41D6-545A-E128E376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16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17E623-4A06-5BB5-2EC2-345586E2C881}"/>
              </a:ext>
            </a:extLst>
          </p:cNvPr>
          <p:cNvSpPr txBox="1"/>
          <p:nvPr/>
        </p:nvSpPr>
        <p:spPr>
          <a:xfrm>
            <a:off x="849647" y="1231733"/>
            <a:ext cx="10492705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/>
              <a:t>AES	Advanced Encryption Standard</a:t>
            </a:r>
          </a:p>
          <a:p>
            <a:endParaRPr lang="en-IN" sz="1300" dirty="0"/>
          </a:p>
          <a:p>
            <a:r>
              <a:rPr lang="en-US" sz="1300" dirty="0"/>
              <a:t>ECDHE	</a:t>
            </a:r>
            <a:r>
              <a:rPr lang="en-IN" sz="1300" dirty="0"/>
              <a:t>Elliptic Curve Diffie-Hellman Ephemeral</a:t>
            </a:r>
            <a:endParaRPr lang="en-IN" sz="1300" dirty="0">
              <a:hlinkClick r:id="rId2"/>
            </a:endParaRPr>
          </a:p>
          <a:p>
            <a:endParaRPr lang="en-IN" sz="1300" dirty="0"/>
          </a:p>
          <a:p>
            <a:r>
              <a:rPr lang="en-IN" sz="1300" dirty="0"/>
              <a:t>RSA	Rivest, Shamir, and Adleman</a:t>
            </a:r>
          </a:p>
          <a:p>
            <a:r>
              <a:rPr lang="en-IN" sz="1300" dirty="0"/>
              <a:t>	 </a:t>
            </a:r>
          </a:p>
          <a:p>
            <a:r>
              <a:rPr lang="en-IN" sz="1300" dirty="0"/>
              <a:t>ECC	Elliptic Curve Cryptography</a:t>
            </a:r>
          </a:p>
          <a:p>
            <a:endParaRPr lang="en-IN" sz="1300" dirty="0"/>
          </a:p>
          <a:p>
            <a:r>
              <a:rPr lang="en-IN" sz="1300" dirty="0"/>
              <a:t>IOT	Internet of Things</a:t>
            </a:r>
          </a:p>
          <a:p>
            <a:endParaRPr lang="en-IN" sz="1300" dirty="0"/>
          </a:p>
          <a:p>
            <a:r>
              <a:rPr lang="en-IN" sz="1300" dirty="0"/>
              <a:t>PQC	Post Quantum Cryptography</a:t>
            </a:r>
          </a:p>
          <a:p>
            <a:endParaRPr lang="en-IN" sz="1300" dirty="0"/>
          </a:p>
          <a:p>
            <a:r>
              <a:rPr lang="en-IN" sz="1300" dirty="0"/>
              <a:t>NIST	</a:t>
            </a:r>
            <a:r>
              <a:rPr lang="en-US" sz="1300" dirty="0"/>
              <a:t>The National Institute of Standards and Technology</a:t>
            </a:r>
            <a:endParaRPr lang="en-IN" sz="1300" dirty="0"/>
          </a:p>
          <a:p>
            <a:endParaRPr lang="en-IN" sz="1300" dirty="0"/>
          </a:p>
          <a:p>
            <a:r>
              <a:rPr lang="en-IN" sz="1300" dirty="0"/>
              <a:t>EU	European Union</a:t>
            </a:r>
          </a:p>
          <a:p>
            <a:endParaRPr lang="en-IN" sz="1300" dirty="0"/>
          </a:p>
          <a:p>
            <a:r>
              <a:rPr lang="en-IN" sz="1300" dirty="0"/>
              <a:t>TLS	Trasport Layer Service</a:t>
            </a:r>
          </a:p>
          <a:p>
            <a:endParaRPr lang="en-IN" sz="1300" dirty="0"/>
          </a:p>
          <a:p>
            <a:r>
              <a:rPr lang="en-IN" sz="1300" dirty="0"/>
              <a:t>HNDL	Harvest Now, Decrypt Later</a:t>
            </a:r>
          </a:p>
          <a:p>
            <a:endParaRPr lang="en-IN" sz="1300" dirty="0"/>
          </a:p>
          <a:p>
            <a:r>
              <a:rPr lang="en-IN" sz="1300" dirty="0"/>
              <a:t>ML-KEM	Module-Lattice-based Key-Encapsulation Mechanism</a:t>
            </a:r>
          </a:p>
          <a:p>
            <a:endParaRPr lang="en-IN" sz="1300" dirty="0"/>
          </a:p>
          <a:p>
            <a:r>
              <a:rPr lang="en-US" sz="1300" dirty="0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FIPS	Federal Information Processing Standards </a:t>
            </a:r>
            <a:endParaRPr lang="en-IN" sz="1300" dirty="0"/>
          </a:p>
          <a:p>
            <a:endParaRPr lang="en-IN" sz="1300" dirty="0"/>
          </a:p>
          <a:p>
            <a:r>
              <a:rPr lang="en-US" sz="1300" dirty="0"/>
              <a:t>IJRSRMT International Journal of Scientific Research in Management, Technology and Technology</a:t>
            </a: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970237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ile:Noun Project question mark icon 1101884 cc.svg - Outreach Wik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45C07-8365-45F1-BB24-52654C8AB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197" y="2700997"/>
            <a:ext cx="2767120" cy="27092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75985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5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9447</TotalTime>
  <Words>2257</Words>
  <Application>Microsoft Office PowerPoint</Application>
  <PresentationFormat>Widescreen</PresentationFormat>
  <Paragraphs>207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Cambria Math</vt:lpstr>
      <vt:lpstr>Symbol</vt:lpstr>
      <vt:lpstr>Montserrat Bold</vt:lpstr>
      <vt:lpstr>Calibri</vt:lpstr>
      <vt:lpstr>ui-monospace</vt:lpstr>
      <vt:lpstr>Calibri Light</vt:lpstr>
      <vt:lpstr>Montserrat Light</vt:lpstr>
      <vt:lpstr>Roboto Slab</vt:lpstr>
      <vt:lpstr>1_Office Theme</vt:lpstr>
      <vt:lpstr>Custom Design</vt:lpstr>
      <vt:lpstr>2_Office Theme</vt:lpstr>
      <vt:lpstr>Quantum Attack Risk Profiler &amp; Migration Planner (QARP)  </vt:lpstr>
      <vt:lpstr>Introduction</vt:lpstr>
      <vt:lpstr>Literature Review</vt:lpstr>
      <vt:lpstr> Gap Analysis &amp; Literature Alignment </vt:lpstr>
      <vt:lpstr>Problem Statement</vt:lpstr>
      <vt:lpstr>Project Objectives</vt:lpstr>
      <vt:lpstr> Project Methodology </vt:lpstr>
      <vt:lpstr>Project Methodology</vt:lpstr>
      <vt:lpstr>Proposed Solution</vt:lpstr>
      <vt:lpstr>Detailed Scope of Work</vt:lpstr>
      <vt:lpstr>References</vt:lpstr>
      <vt:lpstr>Acronyms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H2 Planning</dc:title>
  <dc:creator>RACE-996</dc:creator>
  <cp:lastModifiedBy>Anirban Dasgupta</cp:lastModifiedBy>
  <cp:revision>580</cp:revision>
  <dcterms:created xsi:type="dcterms:W3CDTF">2021-01-28T08:43:53Z</dcterms:created>
  <dcterms:modified xsi:type="dcterms:W3CDTF">2026-09-07T01:03:16Z</dcterms:modified>
</cp:coreProperties>
</file>