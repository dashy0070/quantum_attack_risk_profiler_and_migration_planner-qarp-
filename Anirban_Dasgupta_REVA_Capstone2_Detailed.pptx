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199"/>
            <a:ext cx="8686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rPr dirty="0"/>
              <a:t>AI Driven Quantum Attack Simulator </a:t>
            </a:r>
            <a:r>
              <a:rPr lang="en-IN" dirty="0"/>
              <a:t>and Predictor </a:t>
            </a:r>
            <a:r>
              <a:rPr dirty="0"/>
              <a:t>for Evaluating Post‑Quantum Readiness of Banking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609" y="2828835"/>
            <a:ext cx="4964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Anirban Dasgupta</a:t>
            </a:r>
          </a:p>
          <a:p>
            <a:pPr>
              <a:defRPr sz="1800"/>
            </a:pPr>
            <a:r>
              <a:rPr dirty="0" err="1"/>
              <a:t>M.Tech</a:t>
            </a:r>
            <a:r>
              <a:rPr dirty="0"/>
              <a:t> | CS13 | SRN: R24TF011</a:t>
            </a:r>
          </a:p>
          <a:p>
            <a:pPr>
              <a:defRPr sz="1800"/>
            </a:pPr>
            <a:r>
              <a:rPr dirty="0"/>
              <a:t>REVA Academy for Corporate Excellence (RACE)</a:t>
            </a:r>
          </a:p>
          <a:p>
            <a:pPr>
              <a:defRPr sz="1800"/>
            </a:pPr>
            <a:r>
              <a:rPr dirty="0"/>
              <a:t>Capstone‑1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Background &amp; Motivation</a:t>
            </a:r>
          </a:p>
          <a:p>
            <a:pPr>
              <a:defRPr sz="1800"/>
            </a:pPr>
            <a:r>
              <a:t>Literature Review &amp; Research Gap</a:t>
            </a:r>
          </a:p>
          <a:p>
            <a:pPr>
              <a:defRPr sz="1800"/>
            </a:pPr>
            <a:r>
              <a:t>Problem Statement</a:t>
            </a:r>
          </a:p>
          <a:p>
            <a:pPr>
              <a:defRPr sz="1800"/>
            </a:pPr>
            <a:r>
              <a:t>Objectives</a:t>
            </a:r>
          </a:p>
          <a:p>
            <a:pPr>
              <a:defRPr sz="1800"/>
            </a:pPr>
            <a:r>
              <a:t>Proposed Solution</a:t>
            </a:r>
          </a:p>
          <a:p>
            <a:pPr>
              <a:defRPr sz="1800"/>
            </a:pPr>
            <a:r>
              <a:t>Methodology</a:t>
            </a:r>
          </a:p>
          <a:p>
            <a:pPr>
              <a:defRPr sz="1800"/>
            </a:pPr>
            <a:r>
              <a:t>Timeline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Introduction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Banks rely on RSA/ECC for TLS and APIs</a:t>
            </a:r>
          </a:p>
          <a:p>
            <a:pPr>
              <a:defRPr sz="1800"/>
            </a:pPr>
            <a:r>
              <a:t>Quantum computers will break RSA/ECC using Shor’s algorithm</a:t>
            </a:r>
          </a:p>
          <a:p>
            <a:pPr>
              <a:defRPr sz="1800"/>
            </a:pPr>
            <a:r>
              <a:t>Harvest‑Now‑Decrypt‑Later is a real banking risk</a:t>
            </a:r>
          </a:p>
          <a:p>
            <a:pPr>
              <a:defRPr sz="1800"/>
            </a:pPr>
            <a:r>
              <a:t>Need for post‑quantum readiness assessment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PQC deployment exists but attack‑centric evaluation is missing</a:t>
            </a:r>
          </a:p>
          <a:p>
            <a:pPr>
              <a:defRPr sz="1800"/>
            </a:pPr>
            <a:r>
              <a:t>No simulator to test quantum impact on real TLS traffic</a:t>
            </a:r>
          </a:p>
          <a:p>
            <a:pPr>
              <a:defRPr sz="1800"/>
            </a:pPr>
            <a:r>
              <a:t>No quantitative risk heatmaps for banking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Banks lack tools to quantify quantum risk</a:t>
            </a:r>
          </a:p>
          <a:p>
            <a:pPr>
              <a:defRPr sz="1800"/>
            </a:pPr>
            <a:r>
              <a:t>Hybrid PQTLS adoption without validation</a:t>
            </a:r>
          </a:p>
          <a:p>
            <a:pPr>
              <a:defRPr sz="1800"/>
            </a:pPr>
            <a:r>
              <a:t>Need scalable, software‑only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91398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1100" dirty="0"/>
              <a:t>AI‑driven quantum attack simulator</a:t>
            </a:r>
            <a:r>
              <a:rPr lang="en-IN" sz="1100" dirty="0"/>
              <a:t> e</a:t>
            </a:r>
            <a:r>
              <a:rPr sz="1100" dirty="0" err="1"/>
              <a:t>mulate</a:t>
            </a:r>
            <a:r>
              <a:rPr lang="en-IN" sz="1100" dirty="0"/>
              <a:t>s</a:t>
            </a:r>
            <a:r>
              <a:rPr sz="1100" dirty="0"/>
              <a:t> Shor‑like and Grover‑like attacks</a:t>
            </a:r>
            <a:r>
              <a:rPr lang="en-IN" sz="1100" dirty="0"/>
              <a:t>. It is </a:t>
            </a:r>
            <a:r>
              <a:rPr lang="en-IN" sz="1100" dirty="0" err="1"/>
              <a:t>i</a:t>
            </a:r>
            <a:r>
              <a:rPr sz="1100" dirty="0"/>
              <a:t>integrated with Hybrid PQTLS 1.3 testbed</a:t>
            </a:r>
            <a:r>
              <a:rPr lang="en-IN" sz="1100" dirty="0"/>
              <a:t>.</a:t>
            </a:r>
            <a:endParaRPr sz="1100" dirty="0"/>
          </a:p>
          <a:p>
            <a:pPr defTabSz="914400">
              <a:defRPr/>
            </a:pPr>
            <a:r>
              <a:rPr lang="en-US" sz="1100" dirty="0"/>
              <a:t>It produces risk scores and heatmaps and prediction of attacks based upon cryptographic algorithm, byte size and type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100" b="1" dirty="0"/>
              <a:t>1. Quantum Risk Demonstration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100" dirty="0"/>
              <a:t>    -  Simulate how RSA‑2048 and ECC‑256 become vulnerable to quantum attacks (Shor’s/Grover’s models).</a:t>
            </a:r>
          </a:p>
          <a:p>
            <a:pPr lvl="0" defTabSz="914400">
              <a:defRPr/>
            </a:pPr>
            <a:r>
              <a:rPr lang="en-IN" sz="1100" dirty="0"/>
              <a:t>    -  Store captured packets inside an </a:t>
            </a:r>
            <a:r>
              <a:rPr lang="en-IN" sz="1100" b="1" dirty="0"/>
              <a:t>“Interception Vault”</a:t>
            </a:r>
            <a:r>
              <a:rPr lang="en-IN" sz="1100" dirty="0"/>
              <a:t> to model long‑term HNDL attacks.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100" dirty="0"/>
              <a:t>    -  Visual comparison: classical difficulty vs projected quantum-breaking time.</a:t>
            </a:r>
          </a:p>
          <a:p>
            <a:pPr>
              <a:defRPr sz="1800"/>
            </a:pPr>
            <a:endParaRPr lang="en-IN" dirty="0"/>
          </a:p>
          <a:p>
            <a:r>
              <a:rPr lang="en-IN" sz="1100" b="1" dirty="0"/>
              <a:t>2. Compatibility, Latency &amp; Performance Analysis</a:t>
            </a:r>
            <a:endParaRPr lang="en-IN" sz="1100" dirty="0"/>
          </a:p>
          <a:p>
            <a:pPr lvl="0"/>
            <a:r>
              <a:rPr lang="en-IN" sz="1100" dirty="0"/>
              <a:t>    -  Compare handshake size, CPU cost, and latency: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Classical TLS 1.3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Pure PQTLS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Hybrid PQTLS</a:t>
            </a:r>
          </a:p>
          <a:p>
            <a:pPr lvl="0"/>
            <a:r>
              <a:rPr lang="en-IN" sz="1100" dirty="0"/>
              <a:t>    - Identify bottlenecks from large PQ key sizes (MTU fragmentation, middlebox issues).</a:t>
            </a:r>
          </a:p>
          <a:p>
            <a:r>
              <a:rPr lang="en-IN" sz="1100" b="1" dirty="0"/>
              <a:t>3. Quantum Risk Modelling</a:t>
            </a:r>
            <a:endParaRPr lang="en-IN" sz="1100" dirty="0"/>
          </a:p>
          <a:p>
            <a:pPr lvl="0"/>
            <a:r>
              <a:rPr lang="en-IN" sz="1100" dirty="0"/>
              <a:t>    - Develop a </a:t>
            </a:r>
            <a:r>
              <a:rPr lang="en-IN" sz="1100" b="1" dirty="0"/>
              <a:t>Quantum Attack Timeline Model (2030–2038)</a:t>
            </a:r>
            <a:r>
              <a:rPr lang="en-IN" sz="1100" dirty="0"/>
              <a:t>.</a:t>
            </a:r>
          </a:p>
          <a:p>
            <a:pPr lvl="0"/>
            <a:r>
              <a:rPr lang="en-IN" sz="1100" dirty="0"/>
              <a:t>    - Probability simulation of CRQC (Cryptographically Relevant Quantum Computer).</a:t>
            </a:r>
          </a:p>
          <a:p>
            <a:pPr lvl="0"/>
            <a:r>
              <a:rPr lang="en-IN" sz="1100" dirty="0"/>
              <a:t>    - Map risk to banking workloads (transaction logs, archives, customer data).</a:t>
            </a:r>
          </a:p>
          <a:p>
            <a:r>
              <a:rPr lang="en-IN" sz="1100" b="1" dirty="0"/>
              <a:t>4. Exposure Estimation Report</a:t>
            </a:r>
            <a:endParaRPr lang="en-IN" sz="1100" dirty="0"/>
          </a:p>
          <a:p>
            <a:pPr lvl="0"/>
            <a:r>
              <a:rPr lang="en-IN" sz="1100" dirty="0"/>
              <a:t>    - Estimate how much data is at risk </a:t>
            </a:r>
            <a:r>
              <a:rPr lang="en-IN" sz="1100" b="1" dirty="0"/>
              <a:t>if banks remain on RSA/ECC past 2030</a:t>
            </a:r>
            <a:r>
              <a:rPr lang="en-IN" sz="1100" dirty="0"/>
              <a:t>.</a:t>
            </a:r>
          </a:p>
          <a:p>
            <a:pPr lvl="0"/>
            <a:r>
              <a:rPr lang="en-IN" sz="1100" dirty="0"/>
              <a:t>    - Provide mitigation roadmap: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Crypto Inventory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PQC Migration Stages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Hybrid Deployment Timeline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 Quantum Risk Forecast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 dirty="0"/>
              <a:t>PQC Migration Recommendations for Legacy Banking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Detailed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TLS Traffic Capture → Interception Vault</a:t>
            </a:r>
          </a:p>
          <a:p>
            <a:pPr>
              <a:defRPr sz="1800"/>
            </a:pPr>
            <a:r>
              <a:rPr dirty="0"/>
              <a:t>Quantum Circuit Emulation Engine</a:t>
            </a:r>
          </a:p>
          <a:p>
            <a:pPr>
              <a:defRPr sz="1800"/>
            </a:pPr>
            <a:r>
              <a:rPr dirty="0"/>
              <a:t>AI Optimization Module</a:t>
            </a:r>
          </a:p>
          <a:p>
            <a:pPr>
              <a:defRPr sz="1800"/>
            </a:pPr>
            <a:r>
              <a:rPr dirty="0"/>
              <a:t>Risk Scoring &amp; Visualization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Quantum Attack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Shor‑like attacks: RSA/ECC key recovery</a:t>
            </a:r>
          </a:p>
          <a:p>
            <a:pPr>
              <a:defRPr sz="1800"/>
            </a:pPr>
            <a:r>
              <a:t>Grover‑like attacks: AES key search</a:t>
            </a:r>
          </a:p>
          <a:p>
            <a:pPr>
              <a:defRPr sz="1800"/>
            </a:pPr>
            <a:r>
              <a:t>Effective security reduction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Python, Qiskit, Azure Quantum simulators</a:t>
            </a:r>
          </a:p>
          <a:p>
            <a:pPr>
              <a:defRPr sz="1800"/>
            </a:pPr>
            <a:r>
              <a:t>OpenSSL‑OQS / BoringSSL PQ</a:t>
            </a:r>
          </a:p>
          <a:p>
            <a:pPr>
              <a:defRPr sz="1800"/>
            </a:pPr>
            <a:r>
              <a:t>AES‑256, ML‑KEM, ML‑DSA</a:t>
            </a:r>
          </a:p>
          <a:p>
            <a:pPr>
              <a:defRPr sz="1800"/>
            </a:pPr>
            <a:r>
              <a:t>Docker, Wireshark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Project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4008149" cy="41004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/>
              <a:t>Design simulator framework</a:t>
            </a:r>
          </a:p>
          <a:p>
            <a:pPr>
              <a:defRPr sz="1800"/>
            </a:pPr>
            <a:r>
              <a:rPr dirty="0"/>
              <a:t>Build Hybrid PQTLS testbed</a:t>
            </a:r>
          </a:p>
          <a:p>
            <a:pPr>
              <a:defRPr sz="1800"/>
            </a:pPr>
            <a:r>
              <a:rPr dirty="0"/>
              <a:t>Capture and replay TLS traffic</a:t>
            </a:r>
          </a:p>
          <a:p>
            <a:pPr>
              <a:defRPr sz="1800"/>
            </a:pPr>
            <a:r>
              <a:rPr dirty="0"/>
              <a:t>Run AI‑optimized attack simulations</a:t>
            </a:r>
          </a:p>
          <a:p>
            <a:pPr>
              <a:defRPr sz="1800"/>
            </a:pPr>
            <a:r>
              <a:rPr dirty="0"/>
              <a:t>Generate reports and heatmaps</a:t>
            </a:r>
            <a:endParaRPr lang="en-IN" dirty="0"/>
          </a:p>
          <a:p>
            <a:pPr>
              <a:defRPr sz="1800"/>
            </a:pPr>
            <a:endParaRPr lang="en-IN" dirty="0"/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Simulate “interception vault” storage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Model future quantum risk timeline</a:t>
            </a:r>
          </a:p>
          <a:p>
            <a:pPr marL="342900" indent="-342900">
              <a:lnSpc>
                <a:spcPct val="300000"/>
              </a:lnSpc>
              <a:buAutoNum type="arabicPeriod"/>
            </a:pPr>
            <a:r>
              <a:rPr lang="en-IN" dirty="0"/>
              <a:t>Present exposure estimation report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Implementation Timeline (2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Week 1–2: Simulator &amp; lab setup</a:t>
            </a:r>
          </a:p>
          <a:p>
            <a:pPr>
              <a:defRPr sz="1800"/>
            </a:pPr>
            <a:r>
              <a:t>Week 3–4: TLS integration &amp; capture</a:t>
            </a:r>
          </a:p>
          <a:p>
            <a:pPr>
              <a:defRPr sz="1800"/>
            </a:pPr>
            <a:r>
              <a:t>Week 5–6: AI optimization &amp; risk modeling</a:t>
            </a:r>
          </a:p>
          <a:p>
            <a:pPr>
              <a:defRPr sz="1800"/>
            </a:pPr>
            <a:r>
              <a:t>Week 7–8: Evaluation, reporting, viva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Quantum attack simulator MVP</a:t>
            </a:r>
          </a:p>
          <a:p>
            <a:pPr>
              <a:defRPr sz="1800"/>
            </a:pPr>
            <a:r>
              <a:t>Validated Hybrid PQTLS configurations</a:t>
            </a:r>
          </a:p>
          <a:p>
            <a:pPr>
              <a:defRPr sz="1800"/>
            </a:pPr>
            <a:r>
              <a:t>Quantum risk heatmaps</a:t>
            </a:r>
          </a:p>
          <a:p>
            <a:pPr>
              <a:defRPr sz="1800"/>
            </a:pPr>
            <a:r>
              <a:t>Banking PQ migration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Bridges theory and practical banking security</a:t>
            </a:r>
          </a:p>
          <a:p>
            <a:pPr>
              <a:defRPr sz="1800"/>
            </a:pPr>
            <a:r>
              <a:t>Enables data‑driven post‑quantum readiness</a:t>
            </a:r>
          </a:p>
          <a:p>
            <a:pPr>
              <a:defRPr sz="1800"/>
            </a:pPr>
            <a:r>
              <a:t>Strong foundation for Capstone‑2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REVA Academy for Corporate Excellence (RACE) | M.Tech Capstone‑1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783</Words>
  <Application>Microsoft Office PowerPoint</Application>
  <PresentationFormat>On-screen Show (4:3)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anirban.dasgupta2@gmail.com</cp:lastModifiedBy>
  <cp:revision>8</cp:revision>
  <dcterms:created xsi:type="dcterms:W3CDTF">2013-01-27T09:14:16Z</dcterms:created>
  <dcterms:modified xsi:type="dcterms:W3CDTF">2026-07-27T17:44:11Z</dcterms:modified>
  <cp:category/>
</cp:coreProperties>
</file>